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Ex1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Ex2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4"/>
    <p:sldMasterId id="2147483781" r:id="rId5"/>
  </p:sldMasterIdLst>
  <p:notesMasterIdLst>
    <p:notesMasterId r:id="rId15"/>
  </p:notesMasterIdLst>
  <p:sldIdLst>
    <p:sldId id="340" r:id="rId6"/>
    <p:sldId id="330" r:id="rId7"/>
    <p:sldId id="2147375293" r:id="rId8"/>
    <p:sldId id="322" r:id="rId9"/>
    <p:sldId id="279" r:id="rId10"/>
    <p:sldId id="284" r:id="rId11"/>
    <p:sldId id="2147375290" r:id="rId12"/>
    <p:sldId id="277" r:id="rId13"/>
    <p:sldId id="278" r:id="rId14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A4FF307-4396-6907-479A-68302C3D99CB}" name="Karthik" initials="KA" userId="S::karthikeyan@aptaracorp.com::8ff4c3fb-6f20-4ae7-9406-2e7ec7894fcb" providerId="AD"/>
  <p188:author id="{EF4E3B0C-9A70-273F-9CAA-C2FF745FD4B3}" name="Surekha Bharne" initials="SB" userId="S::P03180@aptaracorp.com::0ae5e3fd-b2e1-4a65-9448-6e95ec33b9c2" providerId="AD"/>
  <p188:author id="{8CAE8F5A-F0DA-07E7-86FE-2C1920AEAC90}" name="Ranjan Konhalikar" initials="" userId="S::C01685@aptaracorp.com::16c8493a-4f51-4e03-bd65-e9df42f6fbdd" providerId="AD"/>
  <p188:author id="{EC57AD81-4AB7-5E3B-D20A-82F00B5AC812}" name="Shailesh Nazare" initials="SN" userId="S::shailesh@aptaracorp.com::fc7f15b6-86be-45fa-8702-68cbc8f6ae22" providerId="AD"/>
  <p188:author id="{C1F7A094-EF03-772A-05AE-02A3124FD9D6}" name="Divya Misra" initials="DM" userId="S::Divya.Misra@aptaracorp.com::f242fe80-cd13-49db-bf51-e6bcd55889f7" providerId="AD"/>
  <p188:author id="{E4546CAC-D251-4B1F-718B-AB5409D743BD}" name="Gunjan Bhandari" initials="GB" userId="S::p02817@aptaracorp.com::40054d2f-4ad3-4131-9b3f-e82b6010f91b" providerId="AD"/>
  <p188:author id="{1AF74DC4-6A79-C80A-BB51-8BF1BC768B6C}" name="Jitendra Madas" initials="JM" userId="S::P01757@aptaracorp.com::78aaeeb6-32b8-4774-a962-55b734239be2" providerId="AD"/>
  <p188:author id="{DA8CECC7-00C4-394A-B309-8303E0CDD882}" name="Anand Vedpathak" initials="AV" userId="S::P02447@aptaracorp.com::e62c01c3-40aa-4017-b0de-240715659bb6" providerId="AD"/>
  <p188:author id="{E5BB8ED2-124B-3411-2802-C497CDEBC4D7}" name="Gunjan Bhandari" initials="GB" userId="S::P02817@aptaracorp.com::40054d2f-4ad3-4131-9b3f-e82b6010f91b" providerId="AD"/>
  <p188:author id="{E446A9DD-C69E-1F40-3C6C-5DBADF5D3743}" name="Anand Chikane" initials="AC" userId="S::anand@aptaracorp.com::fb498ba7-3937-46eb-9314-473937b4d000" providerId="AD"/>
  <p188:author id="{5A60ABF1-F4EB-B577-0FC6-4A28A3640620}" name="Abhijit Patil" initials="AP" userId="S::abhijitp@aptaracorp.com::f89741db-5b24-4222-8226-e4f46d142e7b" providerId="AD"/>
  <p188:author id="{0CBD03F9-8FF2-2C16-0E8F-D8C7ACB9FB2C}" name="Suhas Kotkar" initials="SK" userId="S::suhas@aptaracorp.com::f9bec892-59f2-4775-aca3-286a2bd71ba0" providerId="AD"/>
  <p188:author id="{FEEC5FFF-07EC-835F-613C-2D38B4C3FE1B}" name="Nilesh Vedpathak" initials="NV" userId="S::P01615@aptaracorp.com::d6a5f698-5c9b-4e4c-87ab-1aa77357d8b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5F9D"/>
    <a:srgbClr val="DCEAF7"/>
    <a:srgbClr val="46B1E1"/>
    <a:srgbClr val="F4F3F5"/>
    <a:srgbClr val="A6CAEC"/>
    <a:srgbClr val="104862"/>
    <a:srgbClr val="EAE5F4"/>
    <a:srgbClr val="463668"/>
    <a:srgbClr val="050F5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7E2A89-2243-48DA-A0EC-AE697F47E0C5}" v="23" dt="2026-04-02T13:31:06.075"/>
    <p1510:client id="{C5ED88DF-5817-5A13-B97F-103B6E4DEA1C}" v="17" dt="2026-04-02T10:12:19.8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135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umant.Madole\Desktop\Copy%20of%20Details%20for%20PPT%20-%20Hanuman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umant.Madole\Desktop\Copy%20of%20Details%20for%20PPT%20-%20Hanuman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Hanumant.Madole\Desktop\Details%20for%20PPT%20-%20Hanumant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Users\Hanumant.Madole\Desktop\Copy%20of%20Details%20for%20PPT%20-%20Hanuman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none" spc="0" normalizeH="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>
                <a:solidFill>
                  <a:schemeClr val="tx2">
                    <a:lumMod val="75000"/>
                    <a:lumOff val="25000"/>
                  </a:schemeClr>
                </a:solidFill>
              </a:rPr>
              <a:t>ENT Revenue and Revenue Growth 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none" spc="0" normalizeH="0" baseline="0">
              <a:solidFill>
                <a:schemeClr val="tx2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'Financial Overview'!$C$2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4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478781EF-A7E0-4D66-AEF5-8170B30FA151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F455-4B96-8D04-691B1DD675BB}"/>
                </c:ext>
              </c:extLst>
            </c:dLbl>
            <c:dLbl>
              <c:idx val="1"/>
              <c:layout>
                <c:manualLayout>
                  <c:x val="0"/>
                  <c:y val="-5.5005500550055007E-2"/>
                </c:manualLayout>
              </c:layout>
              <c:tx>
                <c:rich>
                  <a:bodyPr/>
                  <a:lstStyle/>
                  <a:p>
                    <a:fld id="{6E4A178D-72D4-46AA-A693-3C1C6AB17271}" type="CELLRANGE">
                      <a:rPr lang="en-US" dirty="0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F455-4B96-8D04-691B1DD675B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B4433A81-0E32-476D-AAF5-C502BE3BB438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F455-4B96-8D04-691B1DD675B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88F63BD0-7006-4F46-AF10-2328D405F7B8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F455-4B96-8D04-691B1DD675BB}"/>
                </c:ext>
              </c:extLst>
            </c:dLbl>
            <c:dLbl>
              <c:idx val="4"/>
              <c:layout>
                <c:manualLayout>
                  <c:x val="4.2603953646898436E-3"/>
                  <c:y val="-2.7502750275027504E-2"/>
                </c:manualLayout>
              </c:layout>
              <c:tx>
                <c:rich>
                  <a:bodyPr/>
                  <a:lstStyle/>
                  <a:p>
                    <a:fld id="{EC8A388D-E5B0-4C62-AC9C-2EE01AF0DC46}" type="CELLRANGE">
                      <a:rPr lang="en-US" dirty="0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F455-4B96-8D04-691B1DD675B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92A46A83-4002-4325-B013-12F266860026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F455-4B96-8D04-691B1DD675BB}"/>
                </c:ext>
              </c:extLst>
            </c:dLbl>
            <c:spPr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trendline>
            <c:spPr>
              <a:ln w="19050" cap="rnd">
                <a:solidFill>
                  <a:schemeClr val="accent4">
                    <a:shade val="76000"/>
                  </a:schemeClr>
                </a:solidFill>
              </a:ln>
              <a:effectLst/>
            </c:spPr>
            <c:trendlineType val="linear"/>
            <c:dispRSqr val="0"/>
            <c:dispEq val="0"/>
          </c:trendline>
          <c:cat>
            <c:strRef>
              <c:f>'Financial Overview'!$B$3:$B$8</c:f>
              <c:strCache>
                <c:ptCount val="6"/>
                <c:pt idx="0">
                  <c:v>2021-22</c:v>
                </c:pt>
                <c:pt idx="1">
                  <c:v>2022-23</c:v>
                </c:pt>
                <c:pt idx="2">
                  <c:v>2023-24</c:v>
                </c:pt>
                <c:pt idx="3">
                  <c:v>2024-25</c:v>
                </c:pt>
                <c:pt idx="4">
                  <c:v>2025-26 (Forecast)</c:v>
                </c:pt>
                <c:pt idx="5">
                  <c:v>2026-27 (Budget)</c:v>
                </c:pt>
              </c:strCache>
            </c:strRef>
          </c:cat>
          <c:val>
            <c:numRef>
              <c:f>'Financial Overview'!$C$3:$C$8</c:f>
              <c:numCache>
                <c:formatCode>"$"0.0,,\ "M"</c:formatCode>
                <c:ptCount val="6"/>
                <c:pt idx="0">
                  <c:v>15917061.609999999</c:v>
                </c:pt>
                <c:pt idx="1">
                  <c:v>14635064.67</c:v>
                </c:pt>
                <c:pt idx="2">
                  <c:v>17429911.52</c:v>
                </c:pt>
                <c:pt idx="3">
                  <c:v>18388579.530000001</c:v>
                </c:pt>
                <c:pt idx="4">
                  <c:v>17350000</c:v>
                </c:pt>
                <c:pt idx="5">
                  <c:v>18400000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'Financial Overview'!$H$3:$H$8</c15:f>
                <c15:dlblRangeCache>
                  <c:ptCount val="6"/>
                  <c:pt idx="0">
                    <c:v>-1%, $ 15.9 M</c:v>
                  </c:pt>
                  <c:pt idx="1">
                    <c:v>-8%, $ 14.6 M</c:v>
                  </c:pt>
                  <c:pt idx="2">
                    <c:v>19%, $ 17.4 M</c:v>
                  </c:pt>
                  <c:pt idx="3">
                    <c:v>6%, $ 18.4 M</c:v>
                  </c:pt>
                  <c:pt idx="4">
                    <c:v>-6%, $ 17.4 M</c:v>
                  </c:pt>
                  <c:pt idx="5">
                    <c:v>6%, $ 18.4 M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7-F455-4B96-8D04-691B1DD675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7"/>
        <c:axId val="1132895216"/>
        <c:axId val="1132892696"/>
      </c:barChart>
      <c:lineChart>
        <c:grouping val="standard"/>
        <c:varyColors val="0"/>
        <c:ser>
          <c:idx val="1"/>
          <c:order val="1"/>
          <c:tx>
            <c:strRef>
              <c:f>'Financial Overview'!$D$2</c:f>
              <c:strCache>
                <c:ptCount val="1"/>
                <c:pt idx="0">
                  <c:v>Revenue Growth %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'Financial Overview'!$B$3:$B$8</c:f>
              <c:strCache>
                <c:ptCount val="6"/>
                <c:pt idx="0">
                  <c:v>2021-22</c:v>
                </c:pt>
                <c:pt idx="1">
                  <c:v>2022-23</c:v>
                </c:pt>
                <c:pt idx="2">
                  <c:v>2023-24</c:v>
                </c:pt>
                <c:pt idx="3">
                  <c:v>2024-25</c:v>
                </c:pt>
                <c:pt idx="4">
                  <c:v>2025-26 (Forecast)</c:v>
                </c:pt>
                <c:pt idx="5">
                  <c:v>2026-27 (Budget)</c:v>
                </c:pt>
              </c:strCache>
            </c:strRef>
          </c:cat>
          <c:val>
            <c:numRef>
              <c:f>'Financial Overview'!$D$3:$D$8</c:f>
              <c:numCache>
                <c:formatCode>0%</c:formatCode>
                <c:ptCount val="6"/>
                <c:pt idx="0">
                  <c:v>-6.3604911682727302E-3</c:v>
                </c:pt>
                <c:pt idx="1">
                  <c:v>-8.0542311854505638E-2</c:v>
                </c:pt>
                <c:pt idx="2">
                  <c:v>0.19096921763038591</c:v>
                </c:pt>
                <c:pt idx="3">
                  <c:v>5.5001312479410779E-2</c:v>
                </c:pt>
                <c:pt idx="4">
                  <c:v>-5.6479595300203217E-2</c:v>
                </c:pt>
                <c:pt idx="5">
                  <c:v>6.0518731988472622E-2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F455-4B96-8D04-691B1DD675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32895216"/>
        <c:axId val="1132892696"/>
      </c:lineChart>
      <c:catAx>
        <c:axId val="11328952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1132892696"/>
        <c:crosses val="autoZero"/>
        <c:auto val="1"/>
        <c:lblAlgn val="ctr"/>
        <c:lblOffset val="100"/>
        <c:noMultiLvlLbl val="0"/>
      </c:catAx>
      <c:valAx>
        <c:axId val="1132892696"/>
        <c:scaling>
          <c:orientation val="minMax"/>
          <c:max val="2500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0.0,,\ &quot;M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1132895216"/>
        <c:crosses val="autoZero"/>
        <c:crossBetween val="between"/>
      </c:valAx>
      <c:dTable>
        <c:showHorzBorder val="1"/>
        <c:showVertBorder val="1"/>
        <c:showOutline val="1"/>
        <c:showKeys val="0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</c:dTable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sz="1000">
          <a:latin typeface="+mj-lt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200" b="1" i="0" u="none" strike="noStrike" kern="1200" cap="none" spc="0" normalizeH="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>
                <a:solidFill>
                  <a:schemeClr val="tx2">
                    <a:lumMod val="75000"/>
                    <a:lumOff val="25000"/>
                  </a:schemeClr>
                </a:solidFill>
              </a:rPr>
              <a:t>ENT EBITDA and EBITDA Growth 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200" b="1" i="0" u="none" strike="noStrike" kern="1200" cap="none" spc="0" normalizeH="0" baseline="0">
              <a:solidFill>
                <a:schemeClr val="tx2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'Financial Overview'!$E$2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82A637C0-DAE3-4CCC-BADA-2CF4F42E5A3A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289C-4FBA-AD4A-F4A5D25421B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A9614B9-8D7D-4B41-8D18-CB3B226C2610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289C-4FBA-AD4A-F4A5D25421B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3AF90F4-4600-40E6-A35B-EADE683B99AE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289C-4FBA-AD4A-F4A5D25421B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5C12928C-19AB-44E6-9C0B-FB346D59FDDB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289C-4FBA-AD4A-F4A5D25421B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F44C027D-B8DC-4C92-9663-0D1F2F652190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289C-4FBA-AD4A-F4A5D25421B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E213AC44-EA89-449D-A93B-606F62BD5445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289C-4FBA-AD4A-F4A5D25421B4}"/>
                </c:ext>
              </c:extLst>
            </c:dLbl>
            <c:spPr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</a:ln>
              <a:effectLst/>
            </c:spPr>
            <c:trendlineType val="linear"/>
            <c:dispRSqr val="0"/>
            <c:dispEq val="0"/>
          </c:trendline>
          <c:cat>
            <c:strRef>
              <c:f>'Financial Overview'!$B$3:$B$8</c:f>
              <c:strCache>
                <c:ptCount val="6"/>
                <c:pt idx="0">
                  <c:v>2021-22</c:v>
                </c:pt>
                <c:pt idx="1">
                  <c:v>2022-23</c:v>
                </c:pt>
                <c:pt idx="2">
                  <c:v>2023-24</c:v>
                </c:pt>
                <c:pt idx="3">
                  <c:v>2024-25</c:v>
                </c:pt>
                <c:pt idx="4">
                  <c:v>2025-26 (Forecast)</c:v>
                </c:pt>
                <c:pt idx="5">
                  <c:v>2026-27 (Budget)</c:v>
                </c:pt>
              </c:strCache>
            </c:strRef>
          </c:cat>
          <c:val>
            <c:numRef>
              <c:f>'Financial Overview'!$E$3:$E$8</c:f>
              <c:numCache>
                <c:formatCode>"$"0.0,,\ "M"</c:formatCode>
                <c:ptCount val="6"/>
                <c:pt idx="0">
                  <c:v>1212594.2354759872</c:v>
                </c:pt>
                <c:pt idx="1">
                  <c:v>482102.37276322953</c:v>
                </c:pt>
                <c:pt idx="2">
                  <c:v>2005592.1961352453</c:v>
                </c:pt>
                <c:pt idx="3">
                  <c:v>2314461.325541405</c:v>
                </c:pt>
                <c:pt idx="4">
                  <c:v>1638637.8205633778</c:v>
                </c:pt>
                <c:pt idx="5">
                  <c:v>2267066.4613220654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'Financial Overview'!$I$3:$I$8</c15:f>
                <c15:dlblRangeCache>
                  <c:ptCount val="6"/>
                  <c:pt idx="0">
                    <c:v>-43%, $ 1.2 M</c:v>
                  </c:pt>
                  <c:pt idx="1">
                    <c:v>-60%, $ 0.5 M</c:v>
                  </c:pt>
                  <c:pt idx="2">
                    <c:v>316%, $ 2.0 M</c:v>
                  </c:pt>
                  <c:pt idx="3">
                    <c:v>15%, $ 2.3 M</c:v>
                  </c:pt>
                  <c:pt idx="4">
                    <c:v>-29%, $ 1.6 M</c:v>
                  </c:pt>
                  <c:pt idx="5">
                    <c:v>38%, $ 2.3 M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7-289C-4FBA-AD4A-F4A5D25421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7"/>
        <c:axId val="1132895216"/>
        <c:axId val="1132892696"/>
      </c:barChart>
      <c:lineChart>
        <c:grouping val="standard"/>
        <c:varyColors val="0"/>
        <c:ser>
          <c:idx val="1"/>
          <c:order val="1"/>
          <c:tx>
            <c:strRef>
              <c:f>'Financial Overview'!$F$2</c:f>
              <c:strCache>
                <c:ptCount val="1"/>
                <c:pt idx="0">
                  <c:v>EBITDA Growth %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'Financial Overview'!$B$3:$B$7</c:f>
              <c:strCache>
                <c:ptCount val="5"/>
                <c:pt idx="0">
                  <c:v>2021-22</c:v>
                </c:pt>
                <c:pt idx="1">
                  <c:v>2022-23</c:v>
                </c:pt>
                <c:pt idx="2">
                  <c:v>2023-24</c:v>
                </c:pt>
                <c:pt idx="3">
                  <c:v>2024-25</c:v>
                </c:pt>
                <c:pt idx="4">
                  <c:v>2025-26 (Forecast)</c:v>
                </c:pt>
              </c:strCache>
            </c:strRef>
          </c:cat>
          <c:val>
            <c:numRef>
              <c:f>'Financial Overview'!$F$3:$F$8</c:f>
              <c:numCache>
                <c:formatCode>0%</c:formatCode>
                <c:ptCount val="6"/>
                <c:pt idx="0">
                  <c:v>-0.43300187161409587</c:v>
                </c:pt>
                <c:pt idx="1">
                  <c:v>-0.60242069551486288</c:v>
                </c:pt>
                <c:pt idx="2">
                  <c:v>3.1600960904629964</c:v>
                </c:pt>
                <c:pt idx="3">
                  <c:v>0.1540039545433749</c:v>
                </c:pt>
                <c:pt idx="4">
                  <c:v>-0.29200034475405923</c:v>
                </c:pt>
                <c:pt idx="5">
                  <c:v>0.38350673521170681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89C-4FBA-AD4A-F4A5D25421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32895216"/>
        <c:axId val="1132892696"/>
      </c:lineChart>
      <c:catAx>
        <c:axId val="11328952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1132892696"/>
        <c:crosses val="autoZero"/>
        <c:auto val="1"/>
        <c:lblAlgn val="ctr"/>
        <c:lblOffset val="100"/>
        <c:noMultiLvlLbl val="0"/>
      </c:catAx>
      <c:valAx>
        <c:axId val="1132892696"/>
        <c:scaling>
          <c:orientation val="minMax"/>
          <c:max val="300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0.0,,\ &quot;M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1132895216"/>
        <c:crosses val="autoZero"/>
        <c:crossBetween val="between"/>
      </c:valAx>
      <c:dTable>
        <c:showHorzBorder val="1"/>
        <c:showVertBorder val="1"/>
        <c:showOutline val="1"/>
        <c:showKeys val="0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</c:dTable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sz="1000">
          <a:latin typeface="+mj-lt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00" b="1" i="0" u="none" strike="noStrike" kern="1200" cap="none" spc="0" normalizeH="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sz="1400">
                <a:solidFill>
                  <a:schemeClr val="tx2">
                    <a:lumMod val="75000"/>
                    <a:lumOff val="25000"/>
                  </a:schemeClr>
                </a:solidFill>
              </a:rPr>
              <a:t>Contribution of XDT to Total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00" b="1" i="0" u="none" strike="noStrike" kern="1200" cap="none" spc="0" normalizeH="0" baseline="0">
              <a:solidFill>
                <a:schemeClr val="tx2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'XDT Growth'!$B$17</c:f>
              <c:strCache>
                <c:ptCount val="1"/>
                <c:pt idx="0">
                  <c:v>Fixed Bid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>
                  <a:alpha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'XDT Growth'!$C$16:$I$16</c:f>
              <c:strCache>
                <c:ptCount val="7"/>
                <c:pt idx="0">
                  <c:v>FY'21</c:v>
                </c:pt>
                <c:pt idx="1">
                  <c:v>FY'22</c:v>
                </c:pt>
                <c:pt idx="2">
                  <c:v>FY'23</c:v>
                </c:pt>
                <c:pt idx="3">
                  <c:v>FY'24</c:v>
                </c:pt>
                <c:pt idx="4">
                  <c:v>FY'25</c:v>
                </c:pt>
                <c:pt idx="5">
                  <c:v>FY'26</c:v>
                </c:pt>
                <c:pt idx="6">
                  <c:v>FY'27</c:v>
                </c:pt>
              </c:strCache>
            </c:strRef>
          </c:cat>
          <c:val>
            <c:numRef>
              <c:f>'XDT Growth'!$C$17:$I$17</c:f>
              <c:numCache>
                <c:formatCode>0%</c:formatCode>
                <c:ptCount val="7"/>
                <c:pt idx="0">
                  <c:v>0.68856447113363783</c:v>
                </c:pt>
                <c:pt idx="1">
                  <c:v>0.57831063181971032</c:v>
                </c:pt>
                <c:pt idx="2">
                  <c:v>0.54905388522073206</c:v>
                </c:pt>
                <c:pt idx="3">
                  <c:v>0.2961497715587238</c:v>
                </c:pt>
                <c:pt idx="4">
                  <c:v>0.28381956136695802</c:v>
                </c:pt>
                <c:pt idx="5">
                  <c:v>0.28121562334262251</c:v>
                </c:pt>
                <c:pt idx="6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0D-4BCF-A6DB-822FBA86CFEB}"/>
            </c:ext>
          </c:extLst>
        </c:ser>
        <c:ser>
          <c:idx val="1"/>
          <c:order val="1"/>
          <c:tx>
            <c:strRef>
              <c:f>'XDT Growth'!$B$18</c:f>
              <c:strCache>
                <c:ptCount val="1"/>
                <c:pt idx="0">
                  <c:v>XDT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>
                  <a:alpha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'XDT Growth'!$C$16:$I$16</c:f>
              <c:strCache>
                <c:ptCount val="7"/>
                <c:pt idx="0">
                  <c:v>FY'21</c:v>
                </c:pt>
                <c:pt idx="1">
                  <c:v>FY'22</c:v>
                </c:pt>
                <c:pt idx="2">
                  <c:v>FY'23</c:v>
                </c:pt>
                <c:pt idx="3">
                  <c:v>FY'24</c:v>
                </c:pt>
                <c:pt idx="4">
                  <c:v>FY'25</c:v>
                </c:pt>
                <c:pt idx="5">
                  <c:v>FY'26</c:v>
                </c:pt>
                <c:pt idx="6">
                  <c:v>FY'27</c:v>
                </c:pt>
              </c:strCache>
            </c:strRef>
          </c:cat>
          <c:val>
            <c:numRef>
              <c:f>'XDT Growth'!$C$18:$I$18</c:f>
              <c:numCache>
                <c:formatCode>0%</c:formatCode>
                <c:ptCount val="7"/>
                <c:pt idx="0">
                  <c:v>0.20803577634947923</c:v>
                </c:pt>
                <c:pt idx="1">
                  <c:v>0.34777850845900443</c:v>
                </c:pt>
                <c:pt idx="2">
                  <c:v>0.37001864907451359</c:v>
                </c:pt>
                <c:pt idx="3">
                  <c:v>0.65752616400614339</c:v>
                </c:pt>
                <c:pt idx="4">
                  <c:v>0.68266001293959666</c:v>
                </c:pt>
                <c:pt idx="5">
                  <c:v>0.71212492818097928</c:v>
                </c:pt>
                <c:pt idx="6">
                  <c:v>0.73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0D-4BCF-A6DB-822FBA86CFEB}"/>
            </c:ext>
          </c:extLst>
        </c:ser>
        <c:ser>
          <c:idx val="2"/>
          <c:order val="2"/>
          <c:tx>
            <c:strRef>
              <c:f>'XDT Growth'!$B$19</c:f>
              <c:strCache>
                <c:ptCount val="1"/>
                <c:pt idx="0">
                  <c:v>T&amp;M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>
                  <a:alpha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'XDT Growth'!$C$16:$I$16</c:f>
              <c:strCache>
                <c:ptCount val="7"/>
                <c:pt idx="0">
                  <c:v>FY'21</c:v>
                </c:pt>
                <c:pt idx="1">
                  <c:v>FY'22</c:v>
                </c:pt>
                <c:pt idx="2">
                  <c:v>FY'23</c:v>
                </c:pt>
                <c:pt idx="3">
                  <c:v>FY'24</c:v>
                </c:pt>
                <c:pt idx="4">
                  <c:v>FY'25</c:v>
                </c:pt>
                <c:pt idx="5">
                  <c:v>FY'26</c:v>
                </c:pt>
                <c:pt idx="6">
                  <c:v>FY'27</c:v>
                </c:pt>
              </c:strCache>
            </c:strRef>
          </c:cat>
          <c:val>
            <c:numRef>
              <c:f>'XDT Growth'!$C$19:$I$19</c:f>
              <c:numCache>
                <c:formatCode>0%</c:formatCode>
                <c:ptCount val="7"/>
                <c:pt idx="0">
                  <c:v>0.10339975251688291</c:v>
                </c:pt>
                <c:pt idx="1">
                  <c:v>7.3910859721285249E-2</c:v>
                </c:pt>
                <c:pt idx="2">
                  <c:v>8.0927465704754301E-2</c:v>
                </c:pt>
                <c:pt idx="3">
                  <c:v>4.6324064435132803E-2</c:v>
                </c:pt>
                <c:pt idx="4">
                  <c:v>3.3520425693445315E-2</c:v>
                </c:pt>
                <c:pt idx="5">
                  <c:v>6.659448476398374E-3</c:v>
                </c:pt>
                <c:pt idx="6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00D-4BCF-A6DB-822FBA86CFE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47"/>
        <c:overlap val="-27"/>
        <c:axId val="1132902776"/>
        <c:axId val="1132903136"/>
      </c:barChart>
      <c:catAx>
        <c:axId val="11329027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1132903136"/>
        <c:crosses val="autoZero"/>
        <c:auto val="1"/>
        <c:lblAlgn val="ctr"/>
        <c:lblOffset val="100"/>
        <c:noMultiLvlLbl val="0"/>
      </c:catAx>
      <c:valAx>
        <c:axId val="1132903136"/>
        <c:scaling>
          <c:orientation val="minMax"/>
          <c:max val="0.8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113290277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</c:dTable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sz="1000">
          <a:latin typeface="+mj-lt"/>
        </a:defRPr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'Top 10 - Deal Closed'!$B$3:$B$12</cx:f>
        <cx:lvl ptCount="10">
          <cx:pt idx="0">PMI</cx:pt>
          <cx:pt idx="1">Blue Cross Blue Shield NC</cx:pt>
          <cx:pt idx="2">Walmart Inc</cx:pt>
          <cx:pt idx="3">Raytheon Company</cx:pt>
          <cx:pt idx="4">PG&amp;E Corporation</cx:pt>
          <cx:pt idx="5">KPMG LLP</cx:pt>
          <cx:pt idx="6">Takeda Pharmaceuticals</cx:pt>
          <cx:pt idx="7">WORKIVA INC</cx:pt>
          <cx:pt idx="8">AT&amp;T Inc</cx:pt>
          <cx:pt idx="9">Honeywell</cx:pt>
        </cx:lvl>
      </cx:strDim>
      <cx:numDim type="val">
        <cx:f>'Top 10 - Deal Closed'!$C$3:$C$12</cx:f>
        <cx:lvl ptCount="10" formatCode="&quot;$&quot;#,##0_);[Red]\(&quot;$&quot;#,##0\)">
          <cx:pt idx="0">2772140</cx:pt>
          <cx:pt idx="1">2027240</cx:pt>
          <cx:pt idx="2">968868</cx:pt>
          <cx:pt idx="3">846358</cx:pt>
          <cx:pt idx="4">797865</cx:pt>
          <cx:pt idx="5">792255</cx:pt>
          <cx:pt idx="6">613200</cx:pt>
          <cx:pt idx="7">519960</cx:pt>
          <cx:pt idx="8">515608</cx:pt>
          <cx:pt idx="9">443885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rtl="0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pPr>
            <a:r>
              <a:rPr lang="en-US" sz="1400" b="0" i="0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lt"/>
              </a:rPr>
              <a:t>                                     Top 10 Clients</a:t>
            </a:r>
            <a:endParaRPr lang="en-US" sz="1400"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lt"/>
            </a:endParaRPr>
          </a:p>
        </cx:rich>
      </cx:tx>
    </cx:title>
    <cx:plotArea>
      <cx:plotAreaRegion>
        <cx:series layoutId="funnel" uniqueId="{F6D28422-FA7B-49DC-8EF0-87A17CBB25E1}">
          <cx:tx>
            <cx:txData>
              <cx:f>'Top 10 - Deal Closed'!$C$2</cx:f>
              <cx:v>Amount ($)</cx:v>
            </cx:txData>
          </cx:tx>
          <cx:dataLabels>
            <cx:txPr>
              <a:bodyPr vertOverflow="overflow" horzOverflow="overflow" wrap="square" lIns="0" tIns="0" rIns="0" bIns="0"/>
              <a:lstStyle/>
              <a:p>
                <a:pPr algn="ctr" rtl="0">
                  <a:defRPr sz="1400" b="0" i="0">
                    <a:solidFill>
                      <a:srgbClr val="404040"/>
                    </a:solidFill>
                    <a:latin typeface="+mj-lt"/>
                    <a:ea typeface="Aptos" panose="020B0004020202020204" pitchFamily="34" charset="0"/>
                    <a:cs typeface="Aptos" panose="020B0004020202020204" pitchFamily="34" charset="0"/>
                  </a:defRPr>
                </a:pPr>
                <a:endParaRPr lang="en-IN" sz="1400">
                  <a:latin typeface="+mj-lt"/>
                </a:endParaRPr>
              </a:p>
            </cx:txPr>
            <cx:visibility seriesName="0" categoryName="0" value="1"/>
          </cx:dataLabels>
          <cx:dataId val="0"/>
        </cx:series>
      </cx:plotAreaRegion>
      <cx:axis id="0">
        <cx:catScaling gapWidth="0.200000003"/>
        <cx:tickLabels/>
        <cx:txPr>
          <a:bodyPr vertOverflow="overflow" horzOverflow="overflow" wrap="square" lIns="0" tIns="0" rIns="0" bIns="0"/>
          <a:lstStyle/>
          <a:p>
            <a:pPr algn="ctr" rtl="0">
              <a:defRPr sz="1400" b="0" i="0">
                <a:solidFill>
                  <a:srgbClr val="595959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</a:defRPr>
            </a:pPr>
            <a:endParaRPr lang="en-IN" sz="1400">
              <a:latin typeface="+mj-lt"/>
            </a:endParaRPr>
          </a:p>
        </cx:txPr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'Top 10 - Invoicing'!$B$5:$B$14</cx:f>
        <cx:lvl ptCount="10">
          <cx:pt idx="0">AT&amp;T</cx:pt>
          <cx:pt idx="1">PMI</cx:pt>
          <cx:pt idx="2">Pacific Gas &amp; Electric</cx:pt>
          <cx:pt idx="3">Blue Cross Blue Shield NC</cx:pt>
          <cx:pt idx="4">Takeda Pharmaceuticals</cx:pt>
          <cx:pt idx="5">Walmart</cx:pt>
          <cx:pt idx="6">Vertex Professional Services</cx:pt>
          <cx:pt idx="7">Wolters Kluwer</cx:pt>
          <cx:pt idx="8">WORKIVA INC</cx:pt>
          <cx:pt idx="9">New York Life Insurance Company</cx:pt>
        </cx:lvl>
      </cx:strDim>
      <cx:numDim type="val">
        <cx:f>'Top 10 - Invoicing'!$C$5:$C$14</cx:f>
        <cx:lvl ptCount="10" formatCode="&quot;$&quot;#,##0_);[Red]\(&quot;$&quot;#,##0\)">
          <cx:pt idx="0">5451513.5600000005</cx:pt>
          <cx:pt idx="1">2099945</cx:pt>
          <cx:pt idx="2">902730.80000000005</cx:pt>
          <cx:pt idx="3">781876</cx:pt>
          <cx:pt idx="4">759168</cx:pt>
          <cx:pt idx="5">665690</cx:pt>
          <cx:pt idx="6">660653.76000000001</cx:pt>
          <cx:pt idx="7">624523.33000000007</cx:pt>
          <cx:pt idx="8">550487.76000000001</cx:pt>
          <cx:pt idx="9">485102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lvl="8" rtl="0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pPr>
            <a:r>
              <a:rPr lang="en-US" sz="1200" b="0" i="0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                                                   Top 10 Clients</a:t>
            </a:r>
            <a:endParaRPr lang="en-US" sz="120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</cx:rich>
      </cx:tx>
    </cx:title>
    <cx:plotArea>
      <cx:plotAreaRegion>
        <cx:series layoutId="funnel" uniqueId="{C34376E0-5BF7-4618-96F6-85ECCA400837}">
          <cx:tx>
            <cx:txData>
              <cx:f>'Top 10 - Invoicing'!$C$4</cx:f>
              <cx:v>Amount</cx:v>
            </cx:txData>
          </cx:tx>
          <cx:dataLabels>
            <cx:numFmt formatCode="$#,##0" sourceLinked="0"/>
            <cx:txPr>
              <a:bodyPr vertOverflow="overflow" horzOverflow="overflow" wrap="square" lIns="0" tIns="0" rIns="0" bIns="0"/>
              <a:lstStyle/>
              <a:p>
                <a:pPr algn="ctr" rtl="0">
                  <a:defRPr sz="900" b="0" i="0">
                    <a:solidFill>
                      <a:srgbClr val="404040"/>
                    </a:solidFill>
                    <a:latin typeface="Aptos" panose="020B0004020202020204" pitchFamily="34" charset="0"/>
                    <a:ea typeface="Aptos" panose="020B0004020202020204" pitchFamily="34" charset="0"/>
                    <a:cs typeface="Aptos" panose="020B0004020202020204" pitchFamily="34" charset="0"/>
                  </a:defRPr>
                </a:pPr>
                <a:endParaRPr lang="en-IN" sz="900"/>
              </a:p>
            </cx:txPr>
            <cx:visibility seriesName="0" categoryName="0" value="1"/>
            <cx:separator>, </cx:separator>
          </cx:dataLabels>
          <cx:dataId val="0"/>
        </cx:series>
      </cx:plotAreaRegion>
      <cx:axis id="0">
        <cx:catScaling gapWidth="0.200000003"/>
        <cx:tickLabels/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rgbClr val="595959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defRPr>
            </a:pPr>
            <a:endParaRPr lang="en-IN" sz="1200"/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4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/>
  </cs:dataLabel>
  <cs:dataLabelCallout>
    <cs:lnRef idx="0"/>
    <cs:fillRef idx="0"/>
    <cs:effectRef idx="0"/>
    <cs:fontRef idx="minor">
      <a:schemeClr val="lt1">
        <a:lumMod val="65000"/>
        <a:lumOff val="35000"/>
      </a:schemeClr>
    </cs:fontRef>
    <cs:spPr>
      <a:solidFill>
        <a:schemeClr val="dk1">
          <a:lumMod val="15000"/>
          <a:lumOff val="85000"/>
        </a:schemeClr>
      </a:solidFill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lumMod val="60000"/>
        </a:schemeClr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2857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25400" cap="flat" cmpd="sng" algn="ctr">
        <a:solidFill>
          <a:schemeClr val="tx1">
            <a:lumMod val="65000"/>
            <a:lumOff val="3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dk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2857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4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/>
  </cs:dataLabel>
  <cs:dataLabelCallout>
    <cs:lnRef idx="0"/>
    <cs:fillRef idx="0"/>
    <cs:effectRef idx="0"/>
    <cs:fontRef idx="minor">
      <a:schemeClr val="lt1">
        <a:lumMod val="65000"/>
        <a:lumOff val="35000"/>
      </a:schemeClr>
    </cs:fontRef>
    <cs:spPr>
      <a:solidFill>
        <a:schemeClr val="dk1">
          <a:lumMod val="15000"/>
          <a:lumOff val="85000"/>
        </a:schemeClr>
      </a:solidFill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lumMod val="60000"/>
        </a:schemeClr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2857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25400" cap="flat" cmpd="sng" algn="ctr">
        <a:solidFill>
          <a:schemeClr val="tx1">
            <a:lumMod val="65000"/>
            <a:lumOff val="3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dk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2857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DF090-FA2B-46BB-B192-840737370647}" type="datetimeFigureOut">
              <a:rPr lang="en-US" smtClean="0"/>
              <a:t>10-Apr-26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6DBF12-B328-4106-ABC3-7F19A113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49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8122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C6EA4-31E4-2B64-28A1-389B0E928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6B2D3E-FC1C-18ED-3870-4E1370B42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F24FB2-1E46-A7DD-A08C-5207FE3BF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9AF17A-E612-4823-E037-61ED1B434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4176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8401D-6CBF-BDFF-BD9B-05100982F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5A184-FF10-4A1C-A5CB-FF3025DBB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30250" y="1169988"/>
            <a:ext cx="5616575" cy="3160712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927B98-6BC9-C574-E49E-A58911AEE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5B95D-A612-2940-DA0E-9BAEE2ED70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46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2225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545CA-EE34-60B5-3397-766A01AB1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1D473C-22FC-3DD4-0E30-D94A12455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095D41-CDE2-94BA-9424-829560278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14EA4-B9BA-E3A0-C10D-6D74E08907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501081-E19D-419D-B0AB-F3E63179501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5761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1E8F9-C207-22B1-AED2-D3D8A40A6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B2932-5FF3-0259-E29D-B538DAD20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1A0F6-65AF-6658-1C37-22FD1FD01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9C0AD-C1FE-221C-C4DE-84CF47EC27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501081-E19D-419D-B0AB-F3E63179501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4900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56543-F9CD-2880-7557-AAC94E902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02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57" b="460"/>
          <a:stretch/>
        </p:blipFill>
        <p:spPr>
          <a:xfrm>
            <a:off x="-1" y="-10274"/>
            <a:ext cx="12192001" cy="6871382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61952" y="148793"/>
            <a:ext cx="10972800" cy="582288"/>
          </a:xfrm>
        </p:spPr>
        <p:txBody>
          <a:bodyPr>
            <a:normAutofit/>
          </a:bodyPr>
          <a:lstStyle>
            <a:lvl1pPr>
              <a:defRPr kumimoji="0" lang="en-US" sz="2400" b="1" i="0" u="none" strike="noStrike" kern="1200" cap="none" spc="0" normalizeH="0" baseline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93387" y="6463927"/>
            <a:ext cx="30480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rgbClr val="404040"/>
                </a:solidFill>
                <a:latin typeface="+mj-lt"/>
                <a:ea typeface="Tahoma" pitchFamily="34" charset="0"/>
                <a:cs typeface="Tahoma" pitchFamily="34" charset="0"/>
              </a:defRPr>
            </a:lvl1pPr>
          </a:lstStyle>
          <a:p>
            <a:fld id="{56401666-4A6E-4ACE-A673-0C447E42B71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5152" y="148793"/>
            <a:ext cx="1219200" cy="365760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618204" y="753596"/>
            <a:ext cx="640080" cy="0"/>
          </a:xfrm>
          <a:prstGeom prst="line">
            <a:avLst/>
          </a:prstGeom>
          <a:ln w="15875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92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57" b="460"/>
          <a:stretch/>
        </p:blipFill>
        <p:spPr>
          <a:xfrm>
            <a:off x="-1" y="-10274"/>
            <a:ext cx="12192001" cy="687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34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57" b="460"/>
          <a:stretch/>
        </p:blipFill>
        <p:spPr>
          <a:xfrm>
            <a:off x="-1" y="-10274"/>
            <a:ext cx="12192001" cy="68713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2ADA29-ADE4-4964-98CD-AFD07966ACC9}" type="datetimeFigureOut">
              <a:rPr lang="en-US" smtClean="0"/>
              <a:t>10-Apr-26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39ADDF-BB8A-4AA9-AB56-79FE17600158}" type="slidenum">
              <a:rPr lang="en-US" smtClean="0"/>
              <a:t>‹#›</a:t>
            </a:fld>
            <a:endParaRPr lang="en-US"/>
          </a:p>
        </p:txBody>
      </p:sp>
      <p:grpSp>
        <p:nvGrpSpPr>
          <p:cNvPr id="25" name="Group 24"/>
          <p:cNvGrpSpPr/>
          <p:nvPr userDrawn="1"/>
        </p:nvGrpSpPr>
        <p:grpSpPr>
          <a:xfrm>
            <a:off x="10671908" y="6360892"/>
            <a:ext cx="1273175" cy="238125"/>
            <a:chOff x="10668000" y="6060002"/>
            <a:chExt cx="1273175" cy="238125"/>
          </a:xfrm>
        </p:grpSpPr>
        <p:sp>
          <p:nvSpPr>
            <p:cNvPr id="26" name="Freeform 5"/>
            <p:cNvSpPr>
              <a:spLocks noEditPoints="1"/>
            </p:cNvSpPr>
            <p:nvPr/>
          </p:nvSpPr>
          <p:spPr bwMode="auto">
            <a:xfrm>
              <a:off x="10668000" y="6060002"/>
              <a:ext cx="219075" cy="238125"/>
            </a:xfrm>
            <a:custGeom>
              <a:avLst/>
              <a:gdLst>
                <a:gd name="T0" fmla="*/ 357 w 415"/>
                <a:gd name="T1" fmla="*/ 450 h 450"/>
                <a:gd name="T2" fmla="*/ 311 w 415"/>
                <a:gd name="T3" fmla="*/ 350 h 450"/>
                <a:gd name="T4" fmla="*/ 105 w 415"/>
                <a:gd name="T5" fmla="*/ 350 h 450"/>
                <a:gd name="T6" fmla="*/ 59 w 415"/>
                <a:gd name="T7" fmla="*/ 450 h 450"/>
                <a:gd name="T8" fmla="*/ 0 w 415"/>
                <a:gd name="T9" fmla="*/ 450 h 450"/>
                <a:gd name="T10" fmla="*/ 208 w 415"/>
                <a:gd name="T11" fmla="*/ 0 h 450"/>
                <a:gd name="T12" fmla="*/ 415 w 415"/>
                <a:gd name="T13" fmla="*/ 450 h 450"/>
                <a:gd name="T14" fmla="*/ 357 w 415"/>
                <a:gd name="T15" fmla="*/ 450 h 450"/>
                <a:gd name="T16" fmla="*/ 288 w 415"/>
                <a:gd name="T17" fmla="*/ 302 h 450"/>
                <a:gd name="T18" fmla="*/ 208 w 415"/>
                <a:gd name="T19" fmla="*/ 124 h 450"/>
                <a:gd name="T20" fmla="*/ 127 w 415"/>
                <a:gd name="T21" fmla="*/ 302 h 450"/>
                <a:gd name="T22" fmla="*/ 288 w 415"/>
                <a:gd name="T23" fmla="*/ 302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5" h="450">
                  <a:moveTo>
                    <a:pt x="357" y="450"/>
                  </a:moveTo>
                  <a:lnTo>
                    <a:pt x="311" y="350"/>
                  </a:lnTo>
                  <a:lnTo>
                    <a:pt x="105" y="350"/>
                  </a:lnTo>
                  <a:lnTo>
                    <a:pt x="59" y="450"/>
                  </a:lnTo>
                  <a:lnTo>
                    <a:pt x="0" y="450"/>
                  </a:lnTo>
                  <a:lnTo>
                    <a:pt x="208" y="0"/>
                  </a:lnTo>
                  <a:lnTo>
                    <a:pt x="415" y="450"/>
                  </a:lnTo>
                  <a:lnTo>
                    <a:pt x="357" y="450"/>
                  </a:lnTo>
                  <a:close/>
                  <a:moveTo>
                    <a:pt x="288" y="302"/>
                  </a:moveTo>
                  <a:lnTo>
                    <a:pt x="208" y="124"/>
                  </a:lnTo>
                  <a:lnTo>
                    <a:pt x="127" y="302"/>
                  </a:lnTo>
                  <a:lnTo>
                    <a:pt x="288" y="3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6"/>
            <p:cNvSpPr>
              <a:spLocks noEditPoints="1"/>
            </p:cNvSpPr>
            <p:nvPr/>
          </p:nvSpPr>
          <p:spPr bwMode="auto">
            <a:xfrm>
              <a:off x="10922000" y="6063177"/>
              <a:ext cx="163513" cy="234950"/>
            </a:xfrm>
            <a:custGeom>
              <a:avLst/>
              <a:gdLst>
                <a:gd name="T0" fmla="*/ 173 w 308"/>
                <a:gd name="T1" fmla="*/ 0 h 443"/>
                <a:gd name="T2" fmla="*/ 200 w 308"/>
                <a:gd name="T3" fmla="*/ 3 h 443"/>
                <a:gd name="T4" fmla="*/ 226 w 308"/>
                <a:gd name="T5" fmla="*/ 9 h 443"/>
                <a:gd name="T6" fmla="*/ 249 w 308"/>
                <a:gd name="T7" fmla="*/ 20 h 443"/>
                <a:gd name="T8" fmla="*/ 269 w 308"/>
                <a:gd name="T9" fmla="*/ 34 h 443"/>
                <a:gd name="T10" fmla="*/ 286 w 308"/>
                <a:gd name="T11" fmla="*/ 53 h 443"/>
                <a:gd name="T12" fmla="*/ 298 w 308"/>
                <a:gd name="T13" fmla="*/ 77 h 443"/>
                <a:gd name="T14" fmla="*/ 306 w 308"/>
                <a:gd name="T15" fmla="*/ 103 h 443"/>
                <a:gd name="T16" fmla="*/ 308 w 308"/>
                <a:gd name="T17" fmla="*/ 135 h 443"/>
                <a:gd name="T18" fmla="*/ 307 w 308"/>
                <a:gd name="T19" fmla="*/ 151 h 443"/>
                <a:gd name="T20" fmla="*/ 302 w 308"/>
                <a:gd name="T21" fmla="*/ 180 h 443"/>
                <a:gd name="T22" fmla="*/ 292 w 308"/>
                <a:gd name="T23" fmla="*/ 205 h 443"/>
                <a:gd name="T24" fmla="*/ 278 w 308"/>
                <a:gd name="T25" fmla="*/ 225 h 443"/>
                <a:gd name="T26" fmla="*/ 260 w 308"/>
                <a:gd name="T27" fmla="*/ 242 h 443"/>
                <a:gd name="T28" fmla="*/ 238 w 308"/>
                <a:gd name="T29" fmla="*/ 255 h 443"/>
                <a:gd name="T30" fmla="*/ 214 w 308"/>
                <a:gd name="T31" fmla="*/ 264 h 443"/>
                <a:gd name="T32" fmla="*/ 186 w 308"/>
                <a:gd name="T33" fmla="*/ 268 h 443"/>
                <a:gd name="T34" fmla="*/ 54 w 308"/>
                <a:gd name="T35" fmla="*/ 269 h 443"/>
                <a:gd name="T36" fmla="*/ 0 w 308"/>
                <a:gd name="T37" fmla="*/ 443 h 443"/>
                <a:gd name="T38" fmla="*/ 173 w 308"/>
                <a:gd name="T39" fmla="*/ 0 h 443"/>
                <a:gd name="T40" fmla="*/ 166 w 308"/>
                <a:gd name="T41" fmla="*/ 220 h 443"/>
                <a:gd name="T42" fmla="*/ 175 w 308"/>
                <a:gd name="T43" fmla="*/ 220 h 443"/>
                <a:gd name="T44" fmla="*/ 192 w 308"/>
                <a:gd name="T45" fmla="*/ 218 h 443"/>
                <a:gd name="T46" fmla="*/ 208 w 308"/>
                <a:gd name="T47" fmla="*/ 213 h 443"/>
                <a:gd name="T48" fmla="*/ 221 w 308"/>
                <a:gd name="T49" fmla="*/ 204 h 443"/>
                <a:gd name="T50" fmla="*/ 233 w 308"/>
                <a:gd name="T51" fmla="*/ 194 h 443"/>
                <a:gd name="T52" fmla="*/ 243 w 308"/>
                <a:gd name="T53" fmla="*/ 181 h 443"/>
                <a:gd name="T54" fmla="*/ 249 w 308"/>
                <a:gd name="T55" fmla="*/ 164 h 443"/>
                <a:gd name="T56" fmla="*/ 252 w 308"/>
                <a:gd name="T57" fmla="*/ 146 h 443"/>
                <a:gd name="T58" fmla="*/ 253 w 308"/>
                <a:gd name="T59" fmla="*/ 135 h 443"/>
                <a:gd name="T60" fmla="*/ 251 w 308"/>
                <a:gd name="T61" fmla="*/ 114 h 443"/>
                <a:gd name="T62" fmla="*/ 246 w 308"/>
                <a:gd name="T63" fmla="*/ 96 h 443"/>
                <a:gd name="T64" fmla="*/ 238 w 308"/>
                <a:gd name="T65" fmla="*/ 81 h 443"/>
                <a:gd name="T66" fmla="*/ 227 w 308"/>
                <a:gd name="T67" fmla="*/ 69 h 443"/>
                <a:gd name="T68" fmla="*/ 214 w 308"/>
                <a:gd name="T69" fmla="*/ 60 h 443"/>
                <a:gd name="T70" fmla="*/ 199 w 308"/>
                <a:gd name="T71" fmla="*/ 53 h 443"/>
                <a:gd name="T72" fmla="*/ 183 w 308"/>
                <a:gd name="T73" fmla="*/ 49 h 443"/>
                <a:gd name="T74" fmla="*/ 166 w 308"/>
                <a:gd name="T75" fmla="*/ 48 h 443"/>
                <a:gd name="T76" fmla="*/ 53 w 308"/>
                <a:gd name="T77" fmla="*/ 22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08" h="443">
                  <a:moveTo>
                    <a:pt x="173" y="0"/>
                  </a:moveTo>
                  <a:lnTo>
                    <a:pt x="173" y="0"/>
                  </a:lnTo>
                  <a:lnTo>
                    <a:pt x="186" y="1"/>
                  </a:lnTo>
                  <a:lnTo>
                    <a:pt x="200" y="3"/>
                  </a:lnTo>
                  <a:lnTo>
                    <a:pt x="214" y="6"/>
                  </a:lnTo>
                  <a:lnTo>
                    <a:pt x="226" y="9"/>
                  </a:lnTo>
                  <a:lnTo>
                    <a:pt x="238" y="14"/>
                  </a:lnTo>
                  <a:lnTo>
                    <a:pt x="249" y="20"/>
                  </a:lnTo>
                  <a:lnTo>
                    <a:pt x="260" y="27"/>
                  </a:lnTo>
                  <a:lnTo>
                    <a:pt x="269" y="34"/>
                  </a:lnTo>
                  <a:lnTo>
                    <a:pt x="278" y="43"/>
                  </a:lnTo>
                  <a:lnTo>
                    <a:pt x="286" y="53"/>
                  </a:lnTo>
                  <a:lnTo>
                    <a:pt x="292" y="64"/>
                  </a:lnTo>
                  <a:lnTo>
                    <a:pt x="298" y="77"/>
                  </a:lnTo>
                  <a:lnTo>
                    <a:pt x="302" y="90"/>
                  </a:lnTo>
                  <a:lnTo>
                    <a:pt x="306" y="103"/>
                  </a:lnTo>
                  <a:lnTo>
                    <a:pt x="307" y="118"/>
                  </a:lnTo>
                  <a:lnTo>
                    <a:pt x="308" y="135"/>
                  </a:lnTo>
                  <a:lnTo>
                    <a:pt x="308" y="135"/>
                  </a:lnTo>
                  <a:lnTo>
                    <a:pt x="307" y="151"/>
                  </a:lnTo>
                  <a:lnTo>
                    <a:pt x="306" y="166"/>
                  </a:lnTo>
                  <a:lnTo>
                    <a:pt x="302" y="180"/>
                  </a:lnTo>
                  <a:lnTo>
                    <a:pt x="298" y="193"/>
                  </a:lnTo>
                  <a:lnTo>
                    <a:pt x="292" y="205"/>
                  </a:lnTo>
                  <a:lnTo>
                    <a:pt x="286" y="216"/>
                  </a:lnTo>
                  <a:lnTo>
                    <a:pt x="278" y="225"/>
                  </a:lnTo>
                  <a:lnTo>
                    <a:pt x="269" y="235"/>
                  </a:lnTo>
                  <a:lnTo>
                    <a:pt x="260" y="242"/>
                  </a:lnTo>
                  <a:lnTo>
                    <a:pt x="249" y="250"/>
                  </a:lnTo>
                  <a:lnTo>
                    <a:pt x="238" y="255"/>
                  </a:lnTo>
                  <a:lnTo>
                    <a:pt x="226" y="260"/>
                  </a:lnTo>
                  <a:lnTo>
                    <a:pt x="214" y="264"/>
                  </a:lnTo>
                  <a:lnTo>
                    <a:pt x="200" y="267"/>
                  </a:lnTo>
                  <a:lnTo>
                    <a:pt x="186" y="268"/>
                  </a:lnTo>
                  <a:lnTo>
                    <a:pt x="173" y="269"/>
                  </a:lnTo>
                  <a:lnTo>
                    <a:pt x="54" y="269"/>
                  </a:lnTo>
                  <a:lnTo>
                    <a:pt x="54" y="443"/>
                  </a:lnTo>
                  <a:lnTo>
                    <a:pt x="0" y="443"/>
                  </a:lnTo>
                  <a:lnTo>
                    <a:pt x="0" y="0"/>
                  </a:lnTo>
                  <a:lnTo>
                    <a:pt x="173" y="0"/>
                  </a:lnTo>
                  <a:close/>
                  <a:moveTo>
                    <a:pt x="53" y="220"/>
                  </a:moveTo>
                  <a:lnTo>
                    <a:pt x="166" y="220"/>
                  </a:lnTo>
                  <a:lnTo>
                    <a:pt x="166" y="220"/>
                  </a:lnTo>
                  <a:lnTo>
                    <a:pt x="175" y="220"/>
                  </a:lnTo>
                  <a:lnTo>
                    <a:pt x="183" y="219"/>
                  </a:lnTo>
                  <a:lnTo>
                    <a:pt x="192" y="218"/>
                  </a:lnTo>
                  <a:lnTo>
                    <a:pt x="199" y="215"/>
                  </a:lnTo>
                  <a:lnTo>
                    <a:pt x="208" y="213"/>
                  </a:lnTo>
                  <a:lnTo>
                    <a:pt x="214" y="208"/>
                  </a:lnTo>
                  <a:lnTo>
                    <a:pt x="221" y="204"/>
                  </a:lnTo>
                  <a:lnTo>
                    <a:pt x="227" y="199"/>
                  </a:lnTo>
                  <a:lnTo>
                    <a:pt x="233" y="194"/>
                  </a:lnTo>
                  <a:lnTo>
                    <a:pt x="238" y="187"/>
                  </a:lnTo>
                  <a:lnTo>
                    <a:pt x="243" y="181"/>
                  </a:lnTo>
                  <a:lnTo>
                    <a:pt x="246" y="172"/>
                  </a:lnTo>
                  <a:lnTo>
                    <a:pt x="249" y="164"/>
                  </a:lnTo>
                  <a:lnTo>
                    <a:pt x="251" y="155"/>
                  </a:lnTo>
                  <a:lnTo>
                    <a:pt x="252" y="146"/>
                  </a:lnTo>
                  <a:lnTo>
                    <a:pt x="253" y="135"/>
                  </a:lnTo>
                  <a:lnTo>
                    <a:pt x="253" y="135"/>
                  </a:lnTo>
                  <a:lnTo>
                    <a:pt x="252" y="124"/>
                  </a:lnTo>
                  <a:lnTo>
                    <a:pt x="251" y="114"/>
                  </a:lnTo>
                  <a:lnTo>
                    <a:pt x="249" y="104"/>
                  </a:lnTo>
                  <a:lnTo>
                    <a:pt x="246" y="96"/>
                  </a:lnTo>
                  <a:lnTo>
                    <a:pt x="243" y="89"/>
                  </a:lnTo>
                  <a:lnTo>
                    <a:pt x="238" y="81"/>
                  </a:lnTo>
                  <a:lnTo>
                    <a:pt x="233" y="75"/>
                  </a:lnTo>
                  <a:lnTo>
                    <a:pt x="227" y="69"/>
                  </a:lnTo>
                  <a:lnTo>
                    <a:pt x="221" y="64"/>
                  </a:lnTo>
                  <a:lnTo>
                    <a:pt x="214" y="60"/>
                  </a:lnTo>
                  <a:lnTo>
                    <a:pt x="208" y="57"/>
                  </a:lnTo>
                  <a:lnTo>
                    <a:pt x="199" y="53"/>
                  </a:lnTo>
                  <a:lnTo>
                    <a:pt x="192" y="51"/>
                  </a:lnTo>
                  <a:lnTo>
                    <a:pt x="183" y="49"/>
                  </a:lnTo>
                  <a:lnTo>
                    <a:pt x="175" y="49"/>
                  </a:lnTo>
                  <a:lnTo>
                    <a:pt x="166" y="48"/>
                  </a:lnTo>
                  <a:lnTo>
                    <a:pt x="53" y="48"/>
                  </a:lnTo>
                  <a:lnTo>
                    <a:pt x="53" y="2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/>
            <p:cNvSpPr>
              <a:spLocks/>
            </p:cNvSpPr>
            <p:nvPr/>
          </p:nvSpPr>
          <p:spPr bwMode="auto">
            <a:xfrm>
              <a:off x="11102975" y="6063177"/>
              <a:ext cx="201613" cy="234950"/>
            </a:xfrm>
            <a:custGeom>
              <a:avLst/>
              <a:gdLst>
                <a:gd name="T0" fmla="*/ 218 w 383"/>
                <a:gd name="T1" fmla="*/ 48 h 443"/>
                <a:gd name="T2" fmla="*/ 218 w 383"/>
                <a:gd name="T3" fmla="*/ 443 h 443"/>
                <a:gd name="T4" fmla="*/ 164 w 383"/>
                <a:gd name="T5" fmla="*/ 443 h 443"/>
                <a:gd name="T6" fmla="*/ 164 w 383"/>
                <a:gd name="T7" fmla="*/ 48 h 443"/>
                <a:gd name="T8" fmla="*/ 0 w 383"/>
                <a:gd name="T9" fmla="*/ 48 h 443"/>
                <a:gd name="T10" fmla="*/ 0 w 383"/>
                <a:gd name="T11" fmla="*/ 0 h 443"/>
                <a:gd name="T12" fmla="*/ 383 w 383"/>
                <a:gd name="T13" fmla="*/ 0 h 443"/>
                <a:gd name="T14" fmla="*/ 383 w 383"/>
                <a:gd name="T15" fmla="*/ 48 h 443"/>
                <a:gd name="T16" fmla="*/ 218 w 383"/>
                <a:gd name="T17" fmla="*/ 48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443">
                  <a:moveTo>
                    <a:pt x="218" y="48"/>
                  </a:moveTo>
                  <a:lnTo>
                    <a:pt x="218" y="443"/>
                  </a:lnTo>
                  <a:lnTo>
                    <a:pt x="164" y="443"/>
                  </a:lnTo>
                  <a:lnTo>
                    <a:pt x="164" y="48"/>
                  </a:lnTo>
                  <a:lnTo>
                    <a:pt x="0" y="48"/>
                  </a:lnTo>
                  <a:lnTo>
                    <a:pt x="0" y="0"/>
                  </a:lnTo>
                  <a:lnTo>
                    <a:pt x="383" y="0"/>
                  </a:lnTo>
                  <a:lnTo>
                    <a:pt x="383" y="48"/>
                  </a:lnTo>
                  <a:lnTo>
                    <a:pt x="218" y="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/>
            <p:cNvSpPr>
              <a:spLocks noEditPoints="1"/>
            </p:cNvSpPr>
            <p:nvPr/>
          </p:nvSpPr>
          <p:spPr bwMode="auto">
            <a:xfrm>
              <a:off x="11528425" y="6063177"/>
              <a:ext cx="174625" cy="234950"/>
            </a:xfrm>
            <a:custGeom>
              <a:avLst/>
              <a:gdLst>
                <a:gd name="T0" fmla="*/ 55 w 330"/>
                <a:gd name="T1" fmla="*/ 266 h 443"/>
                <a:gd name="T2" fmla="*/ 0 w 330"/>
                <a:gd name="T3" fmla="*/ 443 h 443"/>
                <a:gd name="T4" fmla="*/ 171 w 330"/>
                <a:gd name="T5" fmla="*/ 0 h 443"/>
                <a:gd name="T6" fmla="*/ 186 w 330"/>
                <a:gd name="T7" fmla="*/ 1 h 443"/>
                <a:gd name="T8" fmla="*/ 212 w 330"/>
                <a:gd name="T9" fmla="*/ 5 h 443"/>
                <a:gd name="T10" fmla="*/ 237 w 330"/>
                <a:gd name="T11" fmla="*/ 13 h 443"/>
                <a:gd name="T12" fmla="*/ 258 w 330"/>
                <a:gd name="T13" fmla="*/ 26 h 443"/>
                <a:gd name="T14" fmla="*/ 277 w 330"/>
                <a:gd name="T15" fmla="*/ 43 h 443"/>
                <a:gd name="T16" fmla="*/ 291 w 330"/>
                <a:gd name="T17" fmla="*/ 63 h 443"/>
                <a:gd name="T18" fmla="*/ 301 w 330"/>
                <a:gd name="T19" fmla="*/ 89 h 443"/>
                <a:gd name="T20" fmla="*/ 306 w 330"/>
                <a:gd name="T21" fmla="*/ 117 h 443"/>
                <a:gd name="T22" fmla="*/ 307 w 330"/>
                <a:gd name="T23" fmla="*/ 133 h 443"/>
                <a:gd name="T24" fmla="*/ 305 w 330"/>
                <a:gd name="T25" fmla="*/ 156 h 443"/>
                <a:gd name="T26" fmla="*/ 301 w 330"/>
                <a:gd name="T27" fmla="*/ 178 h 443"/>
                <a:gd name="T28" fmla="*/ 295 w 330"/>
                <a:gd name="T29" fmla="*/ 196 h 443"/>
                <a:gd name="T30" fmla="*/ 285 w 330"/>
                <a:gd name="T31" fmla="*/ 213 h 443"/>
                <a:gd name="T32" fmla="*/ 274 w 330"/>
                <a:gd name="T33" fmla="*/ 228 h 443"/>
                <a:gd name="T34" fmla="*/ 260 w 330"/>
                <a:gd name="T35" fmla="*/ 239 h 443"/>
                <a:gd name="T36" fmla="*/ 244 w 330"/>
                <a:gd name="T37" fmla="*/ 249 h 443"/>
                <a:gd name="T38" fmla="*/ 226 w 330"/>
                <a:gd name="T39" fmla="*/ 256 h 443"/>
                <a:gd name="T40" fmla="*/ 269 w 330"/>
                <a:gd name="T41" fmla="*/ 443 h 443"/>
                <a:gd name="T42" fmla="*/ 164 w 330"/>
                <a:gd name="T43" fmla="*/ 218 h 443"/>
                <a:gd name="T44" fmla="*/ 174 w 330"/>
                <a:gd name="T45" fmla="*/ 217 h 443"/>
                <a:gd name="T46" fmla="*/ 190 w 330"/>
                <a:gd name="T47" fmla="*/ 215 h 443"/>
                <a:gd name="T48" fmla="*/ 206 w 330"/>
                <a:gd name="T49" fmla="*/ 210 h 443"/>
                <a:gd name="T50" fmla="*/ 220 w 330"/>
                <a:gd name="T51" fmla="*/ 202 h 443"/>
                <a:gd name="T52" fmla="*/ 231 w 330"/>
                <a:gd name="T53" fmla="*/ 191 h 443"/>
                <a:gd name="T54" fmla="*/ 241 w 330"/>
                <a:gd name="T55" fmla="*/ 179 h 443"/>
                <a:gd name="T56" fmla="*/ 248 w 330"/>
                <a:gd name="T57" fmla="*/ 163 h 443"/>
                <a:gd name="T58" fmla="*/ 251 w 330"/>
                <a:gd name="T59" fmla="*/ 144 h 443"/>
                <a:gd name="T60" fmla="*/ 251 w 330"/>
                <a:gd name="T61" fmla="*/ 133 h 443"/>
                <a:gd name="T62" fmla="*/ 250 w 330"/>
                <a:gd name="T63" fmla="*/ 113 h 443"/>
                <a:gd name="T64" fmla="*/ 245 w 330"/>
                <a:gd name="T65" fmla="*/ 95 h 443"/>
                <a:gd name="T66" fmla="*/ 237 w 330"/>
                <a:gd name="T67" fmla="*/ 81 h 443"/>
                <a:gd name="T68" fmla="*/ 226 w 330"/>
                <a:gd name="T69" fmla="*/ 69 h 443"/>
                <a:gd name="T70" fmla="*/ 213 w 330"/>
                <a:gd name="T71" fmla="*/ 60 h 443"/>
                <a:gd name="T72" fmla="*/ 198 w 330"/>
                <a:gd name="T73" fmla="*/ 53 h 443"/>
                <a:gd name="T74" fmla="*/ 182 w 330"/>
                <a:gd name="T75" fmla="*/ 49 h 443"/>
                <a:gd name="T76" fmla="*/ 164 w 330"/>
                <a:gd name="T77" fmla="*/ 48 h 443"/>
                <a:gd name="T78" fmla="*/ 54 w 330"/>
                <a:gd name="T79" fmla="*/ 218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30" h="443">
                  <a:moveTo>
                    <a:pt x="170" y="266"/>
                  </a:moveTo>
                  <a:lnTo>
                    <a:pt x="55" y="266"/>
                  </a:lnTo>
                  <a:lnTo>
                    <a:pt x="55" y="443"/>
                  </a:lnTo>
                  <a:lnTo>
                    <a:pt x="0" y="443"/>
                  </a:lnTo>
                  <a:lnTo>
                    <a:pt x="0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86" y="1"/>
                  </a:lnTo>
                  <a:lnTo>
                    <a:pt x="199" y="3"/>
                  </a:lnTo>
                  <a:lnTo>
                    <a:pt x="212" y="5"/>
                  </a:lnTo>
                  <a:lnTo>
                    <a:pt x="225" y="9"/>
                  </a:lnTo>
                  <a:lnTo>
                    <a:pt x="237" y="13"/>
                  </a:lnTo>
                  <a:lnTo>
                    <a:pt x="248" y="20"/>
                  </a:lnTo>
                  <a:lnTo>
                    <a:pt x="258" y="26"/>
                  </a:lnTo>
                  <a:lnTo>
                    <a:pt x="268" y="33"/>
                  </a:lnTo>
                  <a:lnTo>
                    <a:pt x="277" y="43"/>
                  </a:lnTo>
                  <a:lnTo>
                    <a:pt x="284" y="52"/>
                  </a:lnTo>
                  <a:lnTo>
                    <a:pt x="291" y="63"/>
                  </a:lnTo>
                  <a:lnTo>
                    <a:pt x="297" y="75"/>
                  </a:lnTo>
                  <a:lnTo>
                    <a:pt x="301" y="89"/>
                  </a:lnTo>
                  <a:lnTo>
                    <a:pt x="304" y="102"/>
                  </a:lnTo>
                  <a:lnTo>
                    <a:pt x="306" y="117"/>
                  </a:lnTo>
                  <a:lnTo>
                    <a:pt x="307" y="133"/>
                  </a:lnTo>
                  <a:lnTo>
                    <a:pt x="307" y="133"/>
                  </a:lnTo>
                  <a:lnTo>
                    <a:pt x="306" y="145"/>
                  </a:lnTo>
                  <a:lnTo>
                    <a:pt x="305" y="156"/>
                  </a:lnTo>
                  <a:lnTo>
                    <a:pt x="304" y="167"/>
                  </a:lnTo>
                  <a:lnTo>
                    <a:pt x="301" y="178"/>
                  </a:lnTo>
                  <a:lnTo>
                    <a:pt x="298" y="187"/>
                  </a:lnTo>
                  <a:lnTo>
                    <a:pt x="295" y="196"/>
                  </a:lnTo>
                  <a:lnTo>
                    <a:pt x="289" y="205"/>
                  </a:lnTo>
                  <a:lnTo>
                    <a:pt x="285" y="213"/>
                  </a:lnTo>
                  <a:lnTo>
                    <a:pt x="279" y="220"/>
                  </a:lnTo>
                  <a:lnTo>
                    <a:pt x="274" y="228"/>
                  </a:lnTo>
                  <a:lnTo>
                    <a:pt x="266" y="234"/>
                  </a:lnTo>
                  <a:lnTo>
                    <a:pt x="260" y="239"/>
                  </a:lnTo>
                  <a:lnTo>
                    <a:pt x="251" y="245"/>
                  </a:lnTo>
                  <a:lnTo>
                    <a:pt x="244" y="249"/>
                  </a:lnTo>
                  <a:lnTo>
                    <a:pt x="235" y="253"/>
                  </a:lnTo>
                  <a:lnTo>
                    <a:pt x="226" y="256"/>
                  </a:lnTo>
                  <a:lnTo>
                    <a:pt x="330" y="443"/>
                  </a:lnTo>
                  <a:lnTo>
                    <a:pt x="269" y="443"/>
                  </a:lnTo>
                  <a:lnTo>
                    <a:pt x="170" y="266"/>
                  </a:lnTo>
                  <a:close/>
                  <a:moveTo>
                    <a:pt x="164" y="218"/>
                  </a:moveTo>
                  <a:lnTo>
                    <a:pt x="164" y="218"/>
                  </a:lnTo>
                  <a:lnTo>
                    <a:pt x="174" y="217"/>
                  </a:lnTo>
                  <a:lnTo>
                    <a:pt x="182" y="216"/>
                  </a:lnTo>
                  <a:lnTo>
                    <a:pt x="190" y="215"/>
                  </a:lnTo>
                  <a:lnTo>
                    <a:pt x="198" y="213"/>
                  </a:lnTo>
                  <a:lnTo>
                    <a:pt x="206" y="210"/>
                  </a:lnTo>
                  <a:lnTo>
                    <a:pt x="213" y="206"/>
                  </a:lnTo>
                  <a:lnTo>
                    <a:pt x="220" y="202"/>
                  </a:lnTo>
                  <a:lnTo>
                    <a:pt x="226" y="197"/>
                  </a:lnTo>
                  <a:lnTo>
                    <a:pt x="231" y="191"/>
                  </a:lnTo>
                  <a:lnTo>
                    <a:pt x="237" y="185"/>
                  </a:lnTo>
                  <a:lnTo>
                    <a:pt x="241" y="179"/>
                  </a:lnTo>
                  <a:lnTo>
                    <a:pt x="245" y="170"/>
                  </a:lnTo>
                  <a:lnTo>
                    <a:pt x="248" y="163"/>
                  </a:lnTo>
                  <a:lnTo>
                    <a:pt x="250" y="153"/>
                  </a:lnTo>
                  <a:lnTo>
                    <a:pt x="251" y="144"/>
                  </a:lnTo>
                  <a:lnTo>
                    <a:pt x="251" y="133"/>
                  </a:lnTo>
                  <a:lnTo>
                    <a:pt x="251" y="133"/>
                  </a:lnTo>
                  <a:lnTo>
                    <a:pt x="251" y="122"/>
                  </a:lnTo>
                  <a:lnTo>
                    <a:pt x="250" y="113"/>
                  </a:lnTo>
                  <a:lnTo>
                    <a:pt x="248" y="103"/>
                  </a:lnTo>
                  <a:lnTo>
                    <a:pt x="245" y="95"/>
                  </a:lnTo>
                  <a:lnTo>
                    <a:pt x="241" y="87"/>
                  </a:lnTo>
                  <a:lnTo>
                    <a:pt x="237" y="81"/>
                  </a:lnTo>
                  <a:lnTo>
                    <a:pt x="231" y="75"/>
                  </a:lnTo>
                  <a:lnTo>
                    <a:pt x="226" y="69"/>
                  </a:lnTo>
                  <a:lnTo>
                    <a:pt x="220" y="64"/>
                  </a:lnTo>
                  <a:lnTo>
                    <a:pt x="213" y="60"/>
                  </a:lnTo>
                  <a:lnTo>
                    <a:pt x="206" y="57"/>
                  </a:lnTo>
                  <a:lnTo>
                    <a:pt x="198" y="53"/>
                  </a:lnTo>
                  <a:lnTo>
                    <a:pt x="190" y="51"/>
                  </a:lnTo>
                  <a:lnTo>
                    <a:pt x="182" y="49"/>
                  </a:lnTo>
                  <a:lnTo>
                    <a:pt x="174" y="49"/>
                  </a:lnTo>
                  <a:lnTo>
                    <a:pt x="164" y="48"/>
                  </a:lnTo>
                  <a:lnTo>
                    <a:pt x="54" y="48"/>
                  </a:lnTo>
                  <a:lnTo>
                    <a:pt x="54" y="218"/>
                  </a:lnTo>
                  <a:lnTo>
                    <a:pt x="164" y="2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/>
            <p:cNvSpPr>
              <a:spLocks noEditPoints="1"/>
            </p:cNvSpPr>
            <p:nvPr/>
          </p:nvSpPr>
          <p:spPr bwMode="auto">
            <a:xfrm>
              <a:off x="11722100" y="6060002"/>
              <a:ext cx="219075" cy="238125"/>
            </a:xfrm>
            <a:custGeom>
              <a:avLst/>
              <a:gdLst>
                <a:gd name="T0" fmla="*/ 356 w 415"/>
                <a:gd name="T1" fmla="*/ 450 h 450"/>
                <a:gd name="T2" fmla="*/ 310 w 415"/>
                <a:gd name="T3" fmla="*/ 350 h 450"/>
                <a:gd name="T4" fmla="*/ 104 w 415"/>
                <a:gd name="T5" fmla="*/ 350 h 450"/>
                <a:gd name="T6" fmla="*/ 58 w 415"/>
                <a:gd name="T7" fmla="*/ 450 h 450"/>
                <a:gd name="T8" fmla="*/ 0 w 415"/>
                <a:gd name="T9" fmla="*/ 450 h 450"/>
                <a:gd name="T10" fmla="*/ 207 w 415"/>
                <a:gd name="T11" fmla="*/ 0 h 450"/>
                <a:gd name="T12" fmla="*/ 415 w 415"/>
                <a:gd name="T13" fmla="*/ 450 h 450"/>
                <a:gd name="T14" fmla="*/ 356 w 415"/>
                <a:gd name="T15" fmla="*/ 450 h 450"/>
                <a:gd name="T16" fmla="*/ 288 w 415"/>
                <a:gd name="T17" fmla="*/ 302 h 450"/>
                <a:gd name="T18" fmla="*/ 207 w 415"/>
                <a:gd name="T19" fmla="*/ 124 h 450"/>
                <a:gd name="T20" fmla="*/ 127 w 415"/>
                <a:gd name="T21" fmla="*/ 302 h 450"/>
                <a:gd name="T22" fmla="*/ 288 w 415"/>
                <a:gd name="T23" fmla="*/ 302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5" h="450">
                  <a:moveTo>
                    <a:pt x="356" y="450"/>
                  </a:moveTo>
                  <a:lnTo>
                    <a:pt x="310" y="350"/>
                  </a:lnTo>
                  <a:lnTo>
                    <a:pt x="104" y="350"/>
                  </a:lnTo>
                  <a:lnTo>
                    <a:pt x="58" y="450"/>
                  </a:lnTo>
                  <a:lnTo>
                    <a:pt x="0" y="450"/>
                  </a:lnTo>
                  <a:lnTo>
                    <a:pt x="207" y="0"/>
                  </a:lnTo>
                  <a:lnTo>
                    <a:pt x="415" y="450"/>
                  </a:lnTo>
                  <a:lnTo>
                    <a:pt x="356" y="450"/>
                  </a:lnTo>
                  <a:close/>
                  <a:moveTo>
                    <a:pt x="288" y="302"/>
                  </a:moveTo>
                  <a:lnTo>
                    <a:pt x="207" y="124"/>
                  </a:lnTo>
                  <a:lnTo>
                    <a:pt x="127" y="302"/>
                  </a:lnTo>
                  <a:lnTo>
                    <a:pt x="288" y="3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/>
            <p:cNvSpPr>
              <a:spLocks/>
            </p:cNvSpPr>
            <p:nvPr/>
          </p:nvSpPr>
          <p:spPr bwMode="auto">
            <a:xfrm>
              <a:off x="11274425" y="6060002"/>
              <a:ext cx="220663" cy="238125"/>
            </a:xfrm>
            <a:custGeom>
              <a:avLst/>
              <a:gdLst>
                <a:gd name="T0" fmla="*/ 208 w 417"/>
                <a:gd name="T1" fmla="*/ 124 h 450"/>
                <a:gd name="T2" fmla="*/ 357 w 417"/>
                <a:gd name="T3" fmla="*/ 450 h 450"/>
                <a:gd name="T4" fmla="*/ 417 w 417"/>
                <a:gd name="T5" fmla="*/ 450 h 450"/>
                <a:gd name="T6" fmla="*/ 208 w 417"/>
                <a:gd name="T7" fmla="*/ 0 h 450"/>
                <a:gd name="T8" fmla="*/ 0 w 417"/>
                <a:gd name="T9" fmla="*/ 450 h 450"/>
                <a:gd name="T10" fmla="*/ 59 w 417"/>
                <a:gd name="T11" fmla="*/ 450 h 450"/>
                <a:gd name="T12" fmla="*/ 208 w 417"/>
                <a:gd name="T13" fmla="*/ 124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7" h="450">
                  <a:moveTo>
                    <a:pt x="208" y="124"/>
                  </a:moveTo>
                  <a:lnTo>
                    <a:pt x="357" y="450"/>
                  </a:lnTo>
                  <a:lnTo>
                    <a:pt x="417" y="450"/>
                  </a:lnTo>
                  <a:lnTo>
                    <a:pt x="208" y="0"/>
                  </a:lnTo>
                  <a:lnTo>
                    <a:pt x="0" y="450"/>
                  </a:lnTo>
                  <a:lnTo>
                    <a:pt x="59" y="450"/>
                  </a:lnTo>
                  <a:lnTo>
                    <a:pt x="208" y="1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1"/>
            <p:cNvSpPr>
              <a:spLocks noEditPoints="1"/>
            </p:cNvSpPr>
            <p:nvPr/>
          </p:nvSpPr>
          <p:spPr bwMode="auto">
            <a:xfrm>
              <a:off x="10668000" y="6060002"/>
              <a:ext cx="219075" cy="238125"/>
            </a:xfrm>
            <a:custGeom>
              <a:avLst/>
              <a:gdLst>
                <a:gd name="T0" fmla="*/ 357 w 415"/>
                <a:gd name="T1" fmla="*/ 450 h 450"/>
                <a:gd name="T2" fmla="*/ 311 w 415"/>
                <a:gd name="T3" fmla="*/ 350 h 450"/>
                <a:gd name="T4" fmla="*/ 105 w 415"/>
                <a:gd name="T5" fmla="*/ 350 h 450"/>
                <a:gd name="T6" fmla="*/ 59 w 415"/>
                <a:gd name="T7" fmla="*/ 450 h 450"/>
                <a:gd name="T8" fmla="*/ 0 w 415"/>
                <a:gd name="T9" fmla="*/ 450 h 450"/>
                <a:gd name="T10" fmla="*/ 208 w 415"/>
                <a:gd name="T11" fmla="*/ 0 h 450"/>
                <a:gd name="T12" fmla="*/ 415 w 415"/>
                <a:gd name="T13" fmla="*/ 450 h 450"/>
                <a:gd name="T14" fmla="*/ 357 w 415"/>
                <a:gd name="T15" fmla="*/ 450 h 450"/>
                <a:gd name="T16" fmla="*/ 288 w 415"/>
                <a:gd name="T17" fmla="*/ 302 h 450"/>
                <a:gd name="T18" fmla="*/ 208 w 415"/>
                <a:gd name="T19" fmla="*/ 124 h 450"/>
                <a:gd name="T20" fmla="*/ 127 w 415"/>
                <a:gd name="T21" fmla="*/ 302 h 450"/>
                <a:gd name="T22" fmla="*/ 288 w 415"/>
                <a:gd name="T23" fmla="*/ 302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5" h="450">
                  <a:moveTo>
                    <a:pt x="357" y="450"/>
                  </a:moveTo>
                  <a:lnTo>
                    <a:pt x="311" y="350"/>
                  </a:lnTo>
                  <a:lnTo>
                    <a:pt x="105" y="350"/>
                  </a:lnTo>
                  <a:lnTo>
                    <a:pt x="59" y="450"/>
                  </a:lnTo>
                  <a:lnTo>
                    <a:pt x="0" y="450"/>
                  </a:lnTo>
                  <a:lnTo>
                    <a:pt x="208" y="0"/>
                  </a:lnTo>
                  <a:lnTo>
                    <a:pt x="415" y="450"/>
                  </a:lnTo>
                  <a:lnTo>
                    <a:pt x="357" y="450"/>
                  </a:lnTo>
                  <a:close/>
                  <a:moveTo>
                    <a:pt x="288" y="302"/>
                  </a:moveTo>
                  <a:lnTo>
                    <a:pt x="208" y="124"/>
                  </a:lnTo>
                  <a:lnTo>
                    <a:pt x="127" y="302"/>
                  </a:lnTo>
                  <a:lnTo>
                    <a:pt x="288" y="302"/>
                  </a:lnTo>
                  <a:close/>
                </a:path>
              </a:pathLst>
            </a:custGeom>
            <a:solidFill>
              <a:srgbClr val="807F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2"/>
            <p:cNvSpPr>
              <a:spLocks noEditPoints="1"/>
            </p:cNvSpPr>
            <p:nvPr/>
          </p:nvSpPr>
          <p:spPr bwMode="auto">
            <a:xfrm>
              <a:off x="10922000" y="6063177"/>
              <a:ext cx="163513" cy="234950"/>
            </a:xfrm>
            <a:custGeom>
              <a:avLst/>
              <a:gdLst>
                <a:gd name="T0" fmla="*/ 173 w 308"/>
                <a:gd name="T1" fmla="*/ 0 h 443"/>
                <a:gd name="T2" fmla="*/ 200 w 308"/>
                <a:gd name="T3" fmla="*/ 3 h 443"/>
                <a:gd name="T4" fmla="*/ 226 w 308"/>
                <a:gd name="T5" fmla="*/ 9 h 443"/>
                <a:gd name="T6" fmla="*/ 249 w 308"/>
                <a:gd name="T7" fmla="*/ 20 h 443"/>
                <a:gd name="T8" fmla="*/ 269 w 308"/>
                <a:gd name="T9" fmla="*/ 34 h 443"/>
                <a:gd name="T10" fmla="*/ 286 w 308"/>
                <a:gd name="T11" fmla="*/ 53 h 443"/>
                <a:gd name="T12" fmla="*/ 298 w 308"/>
                <a:gd name="T13" fmla="*/ 77 h 443"/>
                <a:gd name="T14" fmla="*/ 306 w 308"/>
                <a:gd name="T15" fmla="*/ 103 h 443"/>
                <a:gd name="T16" fmla="*/ 308 w 308"/>
                <a:gd name="T17" fmla="*/ 135 h 443"/>
                <a:gd name="T18" fmla="*/ 307 w 308"/>
                <a:gd name="T19" fmla="*/ 151 h 443"/>
                <a:gd name="T20" fmla="*/ 302 w 308"/>
                <a:gd name="T21" fmla="*/ 180 h 443"/>
                <a:gd name="T22" fmla="*/ 292 w 308"/>
                <a:gd name="T23" fmla="*/ 205 h 443"/>
                <a:gd name="T24" fmla="*/ 278 w 308"/>
                <a:gd name="T25" fmla="*/ 225 h 443"/>
                <a:gd name="T26" fmla="*/ 260 w 308"/>
                <a:gd name="T27" fmla="*/ 242 h 443"/>
                <a:gd name="T28" fmla="*/ 238 w 308"/>
                <a:gd name="T29" fmla="*/ 255 h 443"/>
                <a:gd name="T30" fmla="*/ 214 w 308"/>
                <a:gd name="T31" fmla="*/ 264 h 443"/>
                <a:gd name="T32" fmla="*/ 186 w 308"/>
                <a:gd name="T33" fmla="*/ 268 h 443"/>
                <a:gd name="T34" fmla="*/ 54 w 308"/>
                <a:gd name="T35" fmla="*/ 269 h 443"/>
                <a:gd name="T36" fmla="*/ 0 w 308"/>
                <a:gd name="T37" fmla="*/ 443 h 443"/>
                <a:gd name="T38" fmla="*/ 173 w 308"/>
                <a:gd name="T39" fmla="*/ 0 h 443"/>
                <a:gd name="T40" fmla="*/ 166 w 308"/>
                <a:gd name="T41" fmla="*/ 220 h 443"/>
                <a:gd name="T42" fmla="*/ 175 w 308"/>
                <a:gd name="T43" fmla="*/ 220 h 443"/>
                <a:gd name="T44" fmla="*/ 192 w 308"/>
                <a:gd name="T45" fmla="*/ 218 h 443"/>
                <a:gd name="T46" fmla="*/ 208 w 308"/>
                <a:gd name="T47" fmla="*/ 213 h 443"/>
                <a:gd name="T48" fmla="*/ 221 w 308"/>
                <a:gd name="T49" fmla="*/ 204 h 443"/>
                <a:gd name="T50" fmla="*/ 233 w 308"/>
                <a:gd name="T51" fmla="*/ 194 h 443"/>
                <a:gd name="T52" fmla="*/ 243 w 308"/>
                <a:gd name="T53" fmla="*/ 181 h 443"/>
                <a:gd name="T54" fmla="*/ 249 w 308"/>
                <a:gd name="T55" fmla="*/ 164 h 443"/>
                <a:gd name="T56" fmla="*/ 252 w 308"/>
                <a:gd name="T57" fmla="*/ 146 h 443"/>
                <a:gd name="T58" fmla="*/ 253 w 308"/>
                <a:gd name="T59" fmla="*/ 135 h 443"/>
                <a:gd name="T60" fmla="*/ 251 w 308"/>
                <a:gd name="T61" fmla="*/ 114 h 443"/>
                <a:gd name="T62" fmla="*/ 246 w 308"/>
                <a:gd name="T63" fmla="*/ 96 h 443"/>
                <a:gd name="T64" fmla="*/ 238 w 308"/>
                <a:gd name="T65" fmla="*/ 81 h 443"/>
                <a:gd name="T66" fmla="*/ 227 w 308"/>
                <a:gd name="T67" fmla="*/ 69 h 443"/>
                <a:gd name="T68" fmla="*/ 214 w 308"/>
                <a:gd name="T69" fmla="*/ 60 h 443"/>
                <a:gd name="T70" fmla="*/ 199 w 308"/>
                <a:gd name="T71" fmla="*/ 53 h 443"/>
                <a:gd name="T72" fmla="*/ 183 w 308"/>
                <a:gd name="T73" fmla="*/ 49 h 443"/>
                <a:gd name="T74" fmla="*/ 166 w 308"/>
                <a:gd name="T75" fmla="*/ 48 h 443"/>
                <a:gd name="T76" fmla="*/ 53 w 308"/>
                <a:gd name="T77" fmla="*/ 22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08" h="443">
                  <a:moveTo>
                    <a:pt x="173" y="0"/>
                  </a:moveTo>
                  <a:lnTo>
                    <a:pt x="173" y="0"/>
                  </a:lnTo>
                  <a:lnTo>
                    <a:pt x="186" y="1"/>
                  </a:lnTo>
                  <a:lnTo>
                    <a:pt x="200" y="3"/>
                  </a:lnTo>
                  <a:lnTo>
                    <a:pt x="214" y="6"/>
                  </a:lnTo>
                  <a:lnTo>
                    <a:pt x="226" y="9"/>
                  </a:lnTo>
                  <a:lnTo>
                    <a:pt x="238" y="14"/>
                  </a:lnTo>
                  <a:lnTo>
                    <a:pt x="249" y="20"/>
                  </a:lnTo>
                  <a:lnTo>
                    <a:pt x="260" y="27"/>
                  </a:lnTo>
                  <a:lnTo>
                    <a:pt x="269" y="34"/>
                  </a:lnTo>
                  <a:lnTo>
                    <a:pt x="278" y="43"/>
                  </a:lnTo>
                  <a:lnTo>
                    <a:pt x="286" y="53"/>
                  </a:lnTo>
                  <a:lnTo>
                    <a:pt x="292" y="64"/>
                  </a:lnTo>
                  <a:lnTo>
                    <a:pt x="298" y="77"/>
                  </a:lnTo>
                  <a:lnTo>
                    <a:pt x="302" y="90"/>
                  </a:lnTo>
                  <a:lnTo>
                    <a:pt x="306" y="103"/>
                  </a:lnTo>
                  <a:lnTo>
                    <a:pt x="307" y="118"/>
                  </a:lnTo>
                  <a:lnTo>
                    <a:pt x="308" y="135"/>
                  </a:lnTo>
                  <a:lnTo>
                    <a:pt x="308" y="135"/>
                  </a:lnTo>
                  <a:lnTo>
                    <a:pt x="307" y="151"/>
                  </a:lnTo>
                  <a:lnTo>
                    <a:pt x="306" y="166"/>
                  </a:lnTo>
                  <a:lnTo>
                    <a:pt x="302" y="180"/>
                  </a:lnTo>
                  <a:lnTo>
                    <a:pt x="298" y="193"/>
                  </a:lnTo>
                  <a:lnTo>
                    <a:pt x="292" y="205"/>
                  </a:lnTo>
                  <a:lnTo>
                    <a:pt x="286" y="216"/>
                  </a:lnTo>
                  <a:lnTo>
                    <a:pt x="278" y="225"/>
                  </a:lnTo>
                  <a:lnTo>
                    <a:pt x="269" y="235"/>
                  </a:lnTo>
                  <a:lnTo>
                    <a:pt x="260" y="242"/>
                  </a:lnTo>
                  <a:lnTo>
                    <a:pt x="249" y="250"/>
                  </a:lnTo>
                  <a:lnTo>
                    <a:pt x="238" y="255"/>
                  </a:lnTo>
                  <a:lnTo>
                    <a:pt x="226" y="260"/>
                  </a:lnTo>
                  <a:lnTo>
                    <a:pt x="214" y="264"/>
                  </a:lnTo>
                  <a:lnTo>
                    <a:pt x="200" y="267"/>
                  </a:lnTo>
                  <a:lnTo>
                    <a:pt x="186" y="268"/>
                  </a:lnTo>
                  <a:lnTo>
                    <a:pt x="173" y="269"/>
                  </a:lnTo>
                  <a:lnTo>
                    <a:pt x="54" y="269"/>
                  </a:lnTo>
                  <a:lnTo>
                    <a:pt x="54" y="443"/>
                  </a:lnTo>
                  <a:lnTo>
                    <a:pt x="0" y="443"/>
                  </a:lnTo>
                  <a:lnTo>
                    <a:pt x="0" y="0"/>
                  </a:lnTo>
                  <a:lnTo>
                    <a:pt x="173" y="0"/>
                  </a:lnTo>
                  <a:close/>
                  <a:moveTo>
                    <a:pt x="53" y="220"/>
                  </a:moveTo>
                  <a:lnTo>
                    <a:pt x="166" y="220"/>
                  </a:lnTo>
                  <a:lnTo>
                    <a:pt x="166" y="220"/>
                  </a:lnTo>
                  <a:lnTo>
                    <a:pt x="175" y="220"/>
                  </a:lnTo>
                  <a:lnTo>
                    <a:pt x="183" y="219"/>
                  </a:lnTo>
                  <a:lnTo>
                    <a:pt x="192" y="218"/>
                  </a:lnTo>
                  <a:lnTo>
                    <a:pt x="199" y="215"/>
                  </a:lnTo>
                  <a:lnTo>
                    <a:pt x="208" y="213"/>
                  </a:lnTo>
                  <a:lnTo>
                    <a:pt x="214" y="208"/>
                  </a:lnTo>
                  <a:lnTo>
                    <a:pt x="221" y="204"/>
                  </a:lnTo>
                  <a:lnTo>
                    <a:pt x="227" y="199"/>
                  </a:lnTo>
                  <a:lnTo>
                    <a:pt x="233" y="194"/>
                  </a:lnTo>
                  <a:lnTo>
                    <a:pt x="238" y="187"/>
                  </a:lnTo>
                  <a:lnTo>
                    <a:pt x="243" y="181"/>
                  </a:lnTo>
                  <a:lnTo>
                    <a:pt x="246" y="172"/>
                  </a:lnTo>
                  <a:lnTo>
                    <a:pt x="249" y="164"/>
                  </a:lnTo>
                  <a:lnTo>
                    <a:pt x="251" y="155"/>
                  </a:lnTo>
                  <a:lnTo>
                    <a:pt x="252" y="146"/>
                  </a:lnTo>
                  <a:lnTo>
                    <a:pt x="253" y="135"/>
                  </a:lnTo>
                  <a:lnTo>
                    <a:pt x="253" y="135"/>
                  </a:lnTo>
                  <a:lnTo>
                    <a:pt x="252" y="124"/>
                  </a:lnTo>
                  <a:lnTo>
                    <a:pt x="251" y="114"/>
                  </a:lnTo>
                  <a:lnTo>
                    <a:pt x="249" y="104"/>
                  </a:lnTo>
                  <a:lnTo>
                    <a:pt x="246" y="96"/>
                  </a:lnTo>
                  <a:lnTo>
                    <a:pt x="243" y="89"/>
                  </a:lnTo>
                  <a:lnTo>
                    <a:pt x="238" y="81"/>
                  </a:lnTo>
                  <a:lnTo>
                    <a:pt x="233" y="75"/>
                  </a:lnTo>
                  <a:lnTo>
                    <a:pt x="227" y="69"/>
                  </a:lnTo>
                  <a:lnTo>
                    <a:pt x="221" y="64"/>
                  </a:lnTo>
                  <a:lnTo>
                    <a:pt x="214" y="60"/>
                  </a:lnTo>
                  <a:lnTo>
                    <a:pt x="208" y="57"/>
                  </a:lnTo>
                  <a:lnTo>
                    <a:pt x="199" y="53"/>
                  </a:lnTo>
                  <a:lnTo>
                    <a:pt x="192" y="51"/>
                  </a:lnTo>
                  <a:lnTo>
                    <a:pt x="183" y="49"/>
                  </a:lnTo>
                  <a:lnTo>
                    <a:pt x="175" y="49"/>
                  </a:lnTo>
                  <a:lnTo>
                    <a:pt x="166" y="48"/>
                  </a:lnTo>
                  <a:lnTo>
                    <a:pt x="53" y="48"/>
                  </a:lnTo>
                  <a:lnTo>
                    <a:pt x="53" y="220"/>
                  </a:lnTo>
                  <a:close/>
                </a:path>
              </a:pathLst>
            </a:custGeom>
            <a:solidFill>
              <a:srgbClr val="807F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3"/>
            <p:cNvSpPr>
              <a:spLocks/>
            </p:cNvSpPr>
            <p:nvPr/>
          </p:nvSpPr>
          <p:spPr bwMode="auto">
            <a:xfrm>
              <a:off x="11102975" y="6063177"/>
              <a:ext cx="201613" cy="234950"/>
            </a:xfrm>
            <a:custGeom>
              <a:avLst/>
              <a:gdLst>
                <a:gd name="T0" fmla="*/ 218 w 383"/>
                <a:gd name="T1" fmla="*/ 48 h 443"/>
                <a:gd name="T2" fmla="*/ 218 w 383"/>
                <a:gd name="T3" fmla="*/ 443 h 443"/>
                <a:gd name="T4" fmla="*/ 164 w 383"/>
                <a:gd name="T5" fmla="*/ 443 h 443"/>
                <a:gd name="T6" fmla="*/ 164 w 383"/>
                <a:gd name="T7" fmla="*/ 48 h 443"/>
                <a:gd name="T8" fmla="*/ 0 w 383"/>
                <a:gd name="T9" fmla="*/ 48 h 443"/>
                <a:gd name="T10" fmla="*/ 0 w 383"/>
                <a:gd name="T11" fmla="*/ 0 h 443"/>
                <a:gd name="T12" fmla="*/ 383 w 383"/>
                <a:gd name="T13" fmla="*/ 0 h 443"/>
                <a:gd name="T14" fmla="*/ 383 w 383"/>
                <a:gd name="T15" fmla="*/ 48 h 443"/>
                <a:gd name="T16" fmla="*/ 218 w 383"/>
                <a:gd name="T17" fmla="*/ 48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443">
                  <a:moveTo>
                    <a:pt x="218" y="48"/>
                  </a:moveTo>
                  <a:lnTo>
                    <a:pt x="218" y="443"/>
                  </a:lnTo>
                  <a:lnTo>
                    <a:pt x="164" y="443"/>
                  </a:lnTo>
                  <a:lnTo>
                    <a:pt x="164" y="48"/>
                  </a:lnTo>
                  <a:lnTo>
                    <a:pt x="0" y="48"/>
                  </a:lnTo>
                  <a:lnTo>
                    <a:pt x="0" y="0"/>
                  </a:lnTo>
                  <a:lnTo>
                    <a:pt x="383" y="0"/>
                  </a:lnTo>
                  <a:lnTo>
                    <a:pt x="383" y="48"/>
                  </a:lnTo>
                  <a:lnTo>
                    <a:pt x="218" y="48"/>
                  </a:lnTo>
                  <a:close/>
                </a:path>
              </a:pathLst>
            </a:custGeom>
            <a:solidFill>
              <a:srgbClr val="807F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14"/>
            <p:cNvSpPr>
              <a:spLocks noEditPoints="1"/>
            </p:cNvSpPr>
            <p:nvPr/>
          </p:nvSpPr>
          <p:spPr bwMode="auto">
            <a:xfrm>
              <a:off x="11528425" y="6063177"/>
              <a:ext cx="174625" cy="234950"/>
            </a:xfrm>
            <a:custGeom>
              <a:avLst/>
              <a:gdLst>
                <a:gd name="T0" fmla="*/ 55 w 330"/>
                <a:gd name="T1" fmla="*/ 266 h 443"/>
                <a:gd name="T2" fmla="*/ 0 w 330"/>
                <a:gd name="T3" fmla="*/ 443 h 443"/>
                <a:gd name="T4" fmla="*/ 171 w 330"/>
                <a:gd name="T5" fmla="*/ 0 h 443"/>
                <a:gd name="T6" fmla="*/ 186 w 330"/>
                <a:gd name="T7" fmla="*/ 1 h 443"/>
                <a:gd name="T8" fmla="*/ 212 w 330"/>
                <a:gd name="T9" fmla="*/ 5 h 443"/>
                <a:gd name="T10" fmla="*/ 237 w 330"/>
                <a:gd name="T11" fmla="*/ 13 h 443"/>
                <a:gd name="T12" fmla="*/ 258 w 330"/>
                <a:gd name="T13" fmla="*/ 26 h 443"/>
                <a:gd name="T14" fmla="*/ 277 w 330"/>
                <a:gd name="T15" fmla="*/ 43 h 443"/>
                <a:gd name="T16" fmla="*/ 291 w 330"/>
                <a:gd name="T17" fmla="*/ 63 h 443"/>
                <a:gd name="T18" fmla="*/ 301 w 330"/>
                <a:gd name="T19" fmla="*/ 89 h 443"/>
                <a:gd name="T20" fmla="*/ 306 w 330"/>
                <a:gd name="T21" fmla="*/ 117 h 443"/>
                <a:gd name="T22" fmla="*/ 307 w 330"/>
                <a:gd name="T23" fmla="*/ 133 h 443"/>
                <a:gd name="T24" fmla="*/ 305 w 330"/>
                <a:gd name="T25" fmla="*/ 156 h 443"/>
                <a:gd name="T26" fmla="*/ 301 w 330"/>
                <a:gd name="T27" fmla="*/ 178 h 443"/>
                <a:gd name="T28" fmla="*/ 295 w 330"/>
                <a:gd name="T29" fmla="*/ 196 h 443"/>
                <a:gd name="T30" fmla="*/ 285 w 330"/>
                <a:gd name="T31" fmla="*/ 213 h 443"/>
                <a:gd name="T32" fmla="*/ 274 w 330"/>
                <a:gd name="T33" fmla="*/ 228 h 443"/>
                <a:gd name="T34" fmla="*/ 260 w 330"/>
                <a:gd name="T35" fmla="*/ 239 h 443"/>
                <a:gd name="T36" fmla="*/ 244 w 330"/>
                <a:gd name="T37" fmla="*/ 249 h 443"/>
                <a:gd name="T38" fmla="*/ 226 w 330"/>
                <a:gd name="T39" fmla="*/ 256 h 443"/>
                <a:gd name="T40" fmla="*/ 269 w 330"/>
                <a:gd name="T41" fmla="*/ 443 h 443"/>
                <a:gd name="T42" fmla="*/ 164 w 330"/>
                <a:gd name="T43" fmla="*/ 218 h 443"/>
                <a:gd name="T44" fmla="*/ 174 w 330"/>
                <a:gd name="T45" fmla="*/ 217 h 443"/>
                <a:gd name="T46" fmla="*/ 190 w 330"/>
                <a:gd name="T47" fmla="*/ 215 h 443"/>
                <a:gd name="T48" fmla="*/ 206 w 330"/>
                <a:gd name="T49" fmla="*/ 210 h 443"/>
                <a:gd name="T50" fmla="*/ 220 w 330"/>
                <a:gd name="T51" fmla="*/ 202 h 443"/>
                <a:gd name="T52" fmla="*/ 231 w 330"/>
                <a:gd name="T53" fmla="*/ 191 h 443"/>
                <a:gd name="T54" fmla="*/ 241 w 330"/>
                <a:gd name="T55" fmla="*/ 179 h 443"/>
                <a:gd name="T56" fmla="*/ 248 w 330"/>
                <a:gd name="T57" fmla="*/ 163 h 443"/>
                <a:gd name="T58" fmla="*/ 251 w 330"/>
                <a:gd name="T59" fmla="*/ 144 h 443"/>
                <a:gd name="T60" fmla="*/ 251 w 330"/>
                <a:gd name="T61" fmla="*/ 133 h 443"/>
                <a:gd name="T62" fmla="*/ 250 w 330"/>
                <a:gd name="T63" fmla="*/ 113 h 443"/>
                <a:gd name="T64" fmla="*/ 245 w 330"/>
                <a:gd name="T65" fmla="*/ 95 h 443"/>
                <a:gd name="T66" fmla="*/ 237 w 330"/>
                <a:gd name="T67" fmla="*/ 81 h 443"/>
                <a:gd name="T68" fmla="*/ 226 w 330"/>
                <a:gd name="T69" fmla="*/ 69 h 443"/>
                <a:gd name="T70" fmla="*/ 213 w 330"/>
                <a:gd name="T71" fmla="*/ 60 h 443"/>
                <a:gd name="T72" fmla="*/ 198 w 330"/>
                <a:gd name="T73" fmla="*/ 53 h 443"/>
                <a:gd name="T74" fmla="*/ 182 w 330"/>
                <a:gd name="T75" fmla="*/ 49 h 443"/>
                <a:gd name="T76" fmla="*/ 164 w 330"/>
                <a:gd name="T77" fmla="*/ 48 h 443"/>
                <a:gd name="T78" fmla="*/ 54 w 330"/>
                <a:gd name="T79" fmla="*/ 218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30" h="443">
                  <a:moveTo>
                    <a:pt x="170" y="266"/>
                  </a:moveTo>
                  <a:lnTo>
                    <a:pt x="55" y="266"/>
                  </a:lnTo>
                  <a:lnTo>
                    <a:pt x="55" y="443"/>
                  </a:lnTo>
                  <a:lnTo>
                    <a:pt x="0" y="443"/>
                  </a:lnTo>
                  <a:lnTo>
                    <a:pt x="0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86" y="1"/>
                  </a:lnTo>
                  <a:lnTo>
                    <a:pt x="199" y="3"/>
                  </a:lnTo>
                  <a:lnTo>
                    <a:pt x="212" y="5"/>
                  </a:lnTo>
                  <a:lnTo>
                    <a:pt x="225" y="9"/>
                  </a:lnTo>
                  <a:lnTo>
                    <a:pt x="237" y="13"/>
                  </a:lnTo>
                  <a:lnTo>
                    <a:pt x="248" y="20"/>
                  </a:lnTo>
                  <a:lnTo>
                    <a:pt x="258" y="26"/>
                  </a:lnTo>
                  <a:lnTo>
                    <a:pt x="268" y="33"/>
                  </a:lnTo>
                  <a:lnTo>
                    <a:pt x="277" y="43"/>
                  </a:lnTo>
                  <a:lnTo>
                    <a:pt x="284" y="52"/>
                  </a:lnTo>
                  <a:lnTo>
                    <a:pt x="291" y="63"/>
                  </a:lnTo>
                  <a:lnTo>
                    <a:pt x="297" y="75"/>
                  </a:lnTo>
                  <a:lnTo>
                    <a:pt x="301" y="89"/>
                  </a:lnTo>
                  <a:lnTo>
                    <a:pt x="304" y="102"/>
                  </a:lnTo>
                  <a:lnTo>
                    <a:pt x="306" y="117"/>
                  </a:lnTo>
                  <a:lnTo>
                    <a:pt x="307" y="133"/>
                  </a:lnTo>
                  <a:lnTo>
                    <a:pt x="307" y="133"/>
                  </a:lnTo>
                  <a:lnTo>
                    <a:pt x="306" y="145"/>
                  </a:lnTo>
                  <a:lnTo>
                    <a:pt x="305" y="156"/>
                  </a:lnTo>
                  <a:lnTo>
                    <a:pt x="304" y="167"/>
                  </a:lnTo>
                  <a:lnTo>
                    <a:pt x="301" y="178"/>
                  </a:lnTo>
                  <a:lnTo>
                    <a:pt x="298" y="187"/>
                  </a:lnTo>
                  <a:lnTo>
                    <a:pt x="295" y="196"/>
                  </a:lnTo>
                  <a:lnTo>
                    <a:pt x="289" y="205"/>
                  </a:lnTo>
                  <a:lnTo>
                    <a:pt x="285" y="213"/>
                  </a:lnTo>
                  <a:lnTo>
                    <a:pt x="279" y="220"/>
                  </a:lnTo>
                  <a:lnTo>
                    <a:pt x="274" y="228"/>
                  </a:lnTo>
                  <a:lnTo>
                    <a:pt x="266" y="234"/>
                  </a:lnTo>
                  <a:lnTo>
                    <a:pt x="260" y="239"/>
                  </a:lnTo>
                  <a:lnTo>
                    <a:pt x="251" y="245"/>
                  </a:lnTo>
                  <a:lnTo>
                    <a:pt x="244" y="249"/>
                  </a:lnTo>
                  <a:lnTo>
                    <a:pt x="235" y="253"/>
                  </a:lnTo>
                  <a:lnTo>
                    <a:pt x="226" y="256"/>
                  </a:lnTo>
                  <a:lnTo>
                    <a:pt x="330" y="443"/>
                  </a:lnTo>
                  <a:lnTo>
                    <a:pt x="269" y="443"/>
                  </a:lnTo>
                  <a:lnTo>
                    <a:pt x="170" y="266"/>
                  </a:lnTo>
                  <a:close/>
                  <a:moveTo>
                    <a:pt x="164" y="218"/>
                  </a:moveTo>
                  <a:lnTo>
                    <a:pt x="164" y="218"/>
                  </a:lnTo>
                  <a:lnTo>
                    <a:pt x="174" y="217"/>
                  </a:lnTo>
                  <a:lnTo>
                    <a:pt x="182" y="216"/>
                  </a:lnTo>
                  <a:lnTo>
                    <a:pt x="190" y="215"/>
                  </a:lnTo>
                  <a:lnTo>
                    <a:pt x="198" y="213"/>
                  </a:lnTo>
                  <a:lnTo>
                    <a:pt x="206" y="210"/>
                  </a:lnTo>
                  <a:lnTo>
                    <a:pt x="213" y="206"/>
                  </a:lnTo>
                  <a:lnTo>
                    <a:pt x="220" y="202"/>
                  </a:lnTo>
                  <a:lnTo>
                    <a:pt x="226" y="197"/>
                  </a:lnTo>
                  <a:lnTo>
                    <a:pt x="231" y="191"/>
                  </a:lnTo>
                  <a:lnTo>
                    <a:pt x="237" y="185"/>
                  </a:lnTo>
                  <a:lnTo>
                    <a:pt x="241" y="179"/>
                  </a:lnTo>
                  <a:lnTo>
                    <a:pt x="245" y="170"/>
                  </a:lnTo>
                  <a:lnTo>
                    <a:pt x="248" y="163"/>
                  </a:lnTo>
                  <a:lnTo>
                    <a:pt x="250" y="153"/>
                  </a:lnTo>
                  <a:lnTo>
                    <a:pt x="251" y="144"/>
                  </a:lnTo>
                  <a:lnTo>
                    <a:pt x="251" y="133"/>
                  </a:lnTo>
                  <a:lnTo>
                    <a:pt x="251" y="133"/>
                  </a:lnTo>
                  <a:lnTo>
                    <a:pt x="251" y="122"/>
                  </a:lnTo>
                  <a:lnTo>
                    <a:pt x="250" y="113"/>
                  </a:lnTo>
                  <a:lnTo>
                    <a:pt x="248" y="103"/>
                  </a:lnTo>
                  <a:lnTo>
                    <a:pt x="245" y="95"/>
                  </a:lnTo>
                  <a:lnTo>
                    <a:pt x="241" y="87"/>
                  </a:lnTo>
                  <a:lnTo>
                    <a:pt x="237" y="81"/>
                  </a:lnTo>
                  <a:lnTo>
                    <a:pt x="231" y="75"/>
                  </a:lnTo>
                  <a:lnTo>
                    <a:pt x="226" y="69"/>
                  </a:lnTo>
                  <a:lnTo>
                    <a:pt x="220" y="64"/>
                  </a:lnTo>
                  <a:lnTo>
                    <a:pt x="213" y="60"/>
                  </a:lnTo>
                  <a:lnTo>
                    <a:pt x="206" y="57"/>
                  </a:lnTo>
                  <a:lnTo>
                    <a:pt x="198" y="53"/>
                  </a:lnTo>
                  <a:lnTo>
                    <a:pt x="190" y="51"/>
                  </a:lnTo>
                  <a:lnTo>
                    <a:pt x="182" y="49"/>
                  </a:lnTo>
                  <a:lnTo>
                    <a:pt x="174" y="49"/>
                  </a:lnTo>
                  <a:lnTo>
                    <a:pt x="164" y="48"/>
                  </a:lnTo>
                  <a:lnTo>
                    <a:pt x="54" y="48"/>
                  </a:lnTo>
                  <a:lnTo>
                    <a:pt x="54" y="218"/>
                  </a:lnTo>
                  <a:lnTo>
                    <a:pt x="164" y="218"/>
                  </a:lnTo>
                  <a:close/>
                </a:path>
              </a:pathLst>
            </a:custGeom>
            <a:solidFill>
              <a:srgbClr val="807F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15"/>
            <p:cNvSpPr>
              <a:spLocks noEditPoints="1"/>
            </p:cNvSpPr>
            <p:nvPr/>
          </p:nvSpPr>
          <p:spPr bwMode="auto">
            <a:xfrm>
              <a:off x="11722100" y="6060002"/>
              <a:ext cx="219075" cy="238125"/>
            </a:xfrm>
            <a:custGeom>
              <a:avLst/>
              <a:gdLst>
                <a:gd name="T0" fmla="*/ 356 w 415"/>
                <a:gd name="T1" fmla="*/ 450 h 450"/>
                <a:gd name="T2" fmla="*/ 310 w 415"/>
                <a:gd name="T3" fmla="*/ 350 h 450"/>
                <a:gd name="T4" fmla="*/ 104 w 415"/>
                <a:gd name="T5" fmla="*/ 350 h 450"/>
                <a:gd name="T6" fmla="*/ 58 w 415"/>
                <a:gd name="T7" fmla="*/ 450 h 450"/>
                <a:gd name="T8" fmla="*/ 0 w 415"/>
                <a:gd name="T9" fmla="*/ 450 h 450"/>
                <a:gd name="T10" fmla="*/ 207 w 415"/>
                <a:gd name="T11" fmla="*/ 0 h 450"/>
                <a:gd name="T12" fmla="*/ 415 w 415"/>
                <a:gd name="T13" fmla="*/ 450 h 450"/>
                <a:gd name="T14" fmla="*/ 356 w 415"/>
                <a:gd name="T15" fmla="*/ 450 h 450"/>
                <a:gd name="T16" fmla="*/ 288 w 415"/>
                <a:gd name="T17" fmla="*/ 302 h 450"/>
                <a:gd name="T18" fmla="*/ 207 w 415"/>
                <a:gd name="T19" fmla="*/ 124 h 450"/>
                <a:gd name="T20" fmla="*/ 127 w 415"/>
                <a:gd name="T21" fmla="*/ 302 h 450"/>
                <a:gd name="T22" fmla="*/ 288 w 415"/>
                <a:gd name="T23" fmla="*/ 302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5" h="450">
                  <a:moveTo>
                    <a:pt x="356" y="450"/>
                  </a:moveTo>
                  <a:lnTo>
                    <a:pt x="310" y="350"/>
                  </a:lnTo>
                  <a:lnTo>
                    <a:pt x="104" y="350"/>
                  </a:lnTo>
                  <a:lnTo>
                    <a:pt x="58" y="450"/>
                  </a:lnTo>
                  <a:lnTo>
                    <a:pt x="0" y="450"/>
                  </a:lnTo>
                  <a:lnTo>
                    <a:pt x="207" y="0"/>
                  </a:lnTo>
                  <a:lnTo>
                    <a:pt x="415" y="450"/>
                  </a:lnTo>
                  <a:lnTo>
                    <a:pt x="356" y="450"/>
                  </a:lnTo>
                  <a:close/>
                  <a:moveTo>
                    <a:pt x="288" y="302"/>
                  </a:moveTo>
                  <a:lnTo>
                    <a:pt x="207" y="124"/>
                  </a:lnTo>
                  <a:lnTo>
                    <a:pt x="127" y="302"/>
                  </a:lnTo>
                  <a:lnTo>
                    <a:pt x="288" y="302"/>
                  </a:lnTo>
                  <a:close/>
                </a:path>
              </a:pathLst>
            </a:custGeom>
            <a:solidFill>
              <a:srgbClr val="807F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6"/>
            <p:cNvSpPr>
              <a:spLocks/>
            </p:cNvSpPr>
            <p:nvPr/>
          </p:nvSpPr>
          <p:spPr bwMode="auto">
            <a:xfrm>
              <a:off x="11274425" y="6060002"/>
              <a:ext cx="220663" cy="238125"/>
            </a:xfrm>
            <a:custGeom>
              <a:avLst/>
              <a:gdLst>
                <a:gd name="T0" fmla="*/ 208 w 417"/>
                <a:gd name="T1" fmla="*/ 124 h 450"/>
                <a:gd name="T2" fmla="*/ 357 w 417"/>
                <a:gd name="T3" fmla="*/ 450 h 450"/>
                <a:gd name="T4" fmla="*/ 417 w 417"/>
                <a:gd name="T5" fmla="*/ 450 h 450"/>
                <a:gd name="T6" fmla="*/ 208 w 417"/>
                <a:gd name="T7" fmla="*/ 0 h 450"/>
                <a:gd name="T8" fmla="*/ 0 w 417"/>
                <a:gd name="T9" fmla="*/ 450 h 450"/>
                <a:gd name="T10" fmla="*/ 59 w 417"/>
                <a:gd name="T11" fmla="*/ 450 h 450"/>
                <a:gd name="T12" fmla="*/ 208 w 417"/>
                <a:gd name="T13" fmla="*/ 124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7" h="450">
                  <a:moveTo>
                    <a:pt x="208" y="124"/>
                  </a:moveTo>
                  <a:lnTo>
                    <a:pt x="357" y="450"/>
                  </a:lnTo>
                  <a:lnTo>
                    <a:pt x="417" y="450"/>
                  </a:lnTo>
                  <a:lnTo>
                    <a:pt x="208" y="0"/>
                  </a:lnTo>
                  <a:lnTo>
                    <a:pt x="0" y="450"/>
                  </a:lnTo>
                  <a:lnTo>
                    <a:pt x="59" y="450"/>
                  </a:lnTo>
                  <a:lnTo>
                    <a:pt x="208" y="124"/>
                  </a:lnTo>
                  <a:close/>
                </a:path>
              </a:pathLst>
            </a:custGeom>
            <a:solidFill>
              <a:srgbClr val="015A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0940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500">
              <a:schemeClr val="accent1">
                <a:lumMod val="60000"/>
                <a:lumOff val="40000"/>
              </a:schemeClr>
            </a:gs>
            <a:gs pos="31000">
              <a:schemeClr val="accent1">
                <a:lumMod val="40000"/>
                <a:lumOff val="60000"/>
              </a:schemeClr>
            </a:gs>
            <a:gs pos="100000">
              <a:schemeClr val="accent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7ABF83-A2A9-B771-62D5-40DCA7767D06}"/>
              </a:ext>
            </a:extLst>
          </p:cNvPr>
          <p:cNvSpPr/>
          <p:nvPr userDrawn="1"/>
        </p:nvSpPr>
        <p:spPr>
          <a:xfrm>
            <a:off x="79589" y="76369"/>
            <a:ext cx="12032822" cy="6705263"/>
          </a:xfrm>
          <a:prstGeom prst="roundRect">
            <a:avLst>
              <a:gd name="adj" fmla="val 16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7F56C1-D77A-3E4E-38F2-5ED70DD884B3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25700" y="250210"/>
            <a:ext cx="10255250" cy="6000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33ACE-5B31-8A6E-F8EA-43A84AC43DE8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433319" y="1482895"/>
            <a:ext cx="10255251" cy="4901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68" name="Slide Number Placeholder 5">
            <a:extLst>
              <a:ext uri="{FF2B5EF4-FFF2-40B4-BE49-F238E27FC236}">
                <a16:creationId xmlns:a16="http://schemas.microsoft.com/office/drawing/2014/main" id="{99B844B3-8396-D791-90FC-0B6DD9F3D43D}"/>
              </a:ext>
            </a:extLst>
          </p:cNvPr>
          <p:cNvSpPr txBox="1">
            <a:spLocks/>
          </p:cNvSpPr>
          <p:nvPr userDrawn="1"/>
        </p:nvSpPr>
        <p:spPr>
          <a:xfrm>
            <a:off x="11511955" y="6414873"/>
            <a:ext cx="434699" cy="38722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CEB30C7-79E1-48E1-AF34-6C4EB7478725}" type="slidenum">
              <a:rPr lang="en-IN" sz="900" smtClean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 algn="r"/>
              <a:t>‹#›</a:t>
            </a:fld>
            <a:endParaRPr lang="en-IN" sz="900">
              <a:solidFill>
                <a:schemeClr val="accent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68034E-CB39-1CA9-431E-FE8FAF4A4D82}"/>
              </a:ext>
            </a:extLst>
          </p:cNvPr>
          <p:cNvSpPr/>
          <p:nvPr userDrawn="1"/>
        </p:nvSpPr>
        <p:spPr>
          <a:xfrm rot="5400000" flipH="1">
            <a:off x="794027" y="426361"/>
            <a:ext cx="27432" cy="5555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EA25A62-BDFF-A166-C372-4603DDF485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1519" y="224362"/>
            <a:ext cx="965738" cy="18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317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accent1"/>
          </a:solidFill>
          <a:latin typeface="+mj-lt"/>
          <a:ea typeface="Roboto Medium" panose="02000000000000000000" pitchFamily="2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j-lt"/>
          <a:ea typeface="Roboto Light" panose="02000000000000000000" pitchFamily="2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j-lt"/>
          <a:ea typeface="Roboto Light" panose="02000000000000000000" pitchFamily="2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j-lt"/>
          <a:ea typeface="Roboto Light" panose="02000000000000000000" pitchFamily="2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j-lt"/>
          <a:ea typeface="Roboto Light" panose="02000000000000000000" pitchFamily="2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j-lt"/>
          <a:ea typeface="Roboto Light" panose="02000000000000000000" pitchFamily="2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18295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spcBef>
          <a:spcPct val="0"/>
        </a:spcBef>
        <a:buNone/>
        <a:defRPr sz="2200" b="0" kern="1200">
          <a:solidFill>
            <a:srgbClr val="005072"/>
          </a:solidFill>
          <a:latin typeface="Tahoma" pitchFamily="34" charset="0"/>
          <a:ea typeface="+mj-ea"/>
          <a:cs typeface="Tahom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5072"/>
        </a:buClr>
        <a:buFont typeface="Arial" pitchFamily="34" charset="0"/>
        <a:buChar char="•"/>
        <a:defRPr sz="1800" kern="1200">
          <a:solidFill>
            <a:srgbClr val="5F5F5F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5F5F5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rgbClr val="5F5F5F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200" kern="1200">
          <a:solidFill>
            <a:srgbClr val="5F5F5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200" kern="1200">
          <a:solidFill>
            <a:srgbClr val="5F5F5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4/relationships/chartEx" Target="../charts/chartEx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7" t="691" r="4665" b="4086"/>
          <a:stretch/>
        </p:blipFill>
        <p:spPr>
          <a:xfrm>
            <a:off x="0" y="0"/>
            <a:ext cx="12223075" cy="68639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464270"/>
            <a:ext cx="12192000" cy="14094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239521" y="5182907"/>
            <a:ext cx="10952480" cy="556981"/>
          </a:xfrm>
          <a:prstGeom prst="rect">
            <a:avLst/>
          </a:prstGeom>
          <a:solidFill>
            <a:srgbClr val="2B5F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9"/>
          <p:cNvSpPr txBox="1">
            <a:spLocks/>
          </p:cNvSpPr>
          <p:nvPr/>
        </p:nvSpPr>
        <p:spPr>
          <a:xfrm>
            <a:off x="1402740" y="5859045"/>
            <a:ext cx="6633819" cy="4616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>
                <a:solidFill>
                  <a:srgbClr val="2B5F9D"/>
                </a:solidFill>
                <a:latin typeface="Aptos Display" panose="020B0004020202020204" pitchFamily="34" charset="0"/>
              </a:rPr>
              <a:t>ENT: FY’26 Performance &amp; FY’27 Growth Strategy</a:t>
            </a:r>
            <a:endParaRPr lang="en-IN" sz="2400" b="1">
              <a:solidFill>
                <a:srgbClr val="2B5F9D"/>
              </a:solidFill>
              <a:latin typeface="Aptos Display" panose="020B0004020202020204" pitchFamily="34" charset="0"/>
            </a:endParaRPr>
          </a:p>
        </p:txBody>
      </p:sp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1487805" y="5341938"/>
            <a:ext cx="1273175" cy="238125"/>
            <a:chOff x="1334" y="3365"/>
            <a:chExt cx="802" cy="150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1334" y="3365"/>
              <a:ext cx="802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Freeform 5"/>
            <p:cNvSpPr>
              <a:spLocks noEditPoints="1"/>
            </p:cNvSpPr>
            <p:nvPr/>
          </p:nvSpPr>
          <p:spPr bwMode="auto">
            <a:xfrm>
              <a:off x="1334" y="3365"/>
              <a:ext cx="138" cy="150"/>
            </a:xfrm>
            <a:custGeom>
              <a:avLst/>
              <a:gdLst>
                <a:gd name="T0" fmla="*/ 357 w 415"/>
                <a:gd name="T1" fmla="*/ 450 h 450"/>
                <a:gd name="T2" fmla="*/ 311 w 415"/>
                <a:gd name="T3" fmla="*/ 350 h 450"/>
                <a:gd name="T4" fmla="*/ 105 w 415"/>
                <a:gd name="T5" fmla="*/ 350 h 450"/>
                <a:gd name="T6" fmla="*/ 59 w 415"/>
                <a:gd name="T7" fmla="*/ 450 h 450"/>
                <a:gd name="T8" fmla="*/ 0 w 415"/>
                <a:gd name="T9" fmla="*/ 450 h 450"/>
                <a:gd name="T10" fmla="*/ 208 w 415"/>
                <a:gd name="T11" fmla="*/ 0 h 450"/>
                <a:gd name="T12" fmla="*/ 415 w 415"/>
                <a:gd name="T13" fmla="*/ 450 h 450"/>
                <a:gd name="T14" fmla="*/ 357 w 415"/>
                <a:gd name="T15" fmla="*/ 450 h 450"/>
                <a:gd name="T16" fmla="*/ 288 w 415"/>
                <a:gd name="T17" fmla="*/ 302 h 450"/>
                <a:gd name="T18" fmla="*/ 208 w 415"/>
                <a:gd name="T19" fmla="*/ 124 h 450"/>
                <a:gd name="T20" fmla="*/ 127 w 415"/>
                <a:gd name="T21" fmla="*/ 302 h 450"/>
                <a:gd name="T22" fmla="*/ 288 w 415"/>
                <a:gd name="T23" fmla="*/ 302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5" h="450">
                  <a:moveTo>
                    <a:pt x="357" y="450"/>
                  </a:moveTo>
                  <a:lnTo>
                    <a:pt x="311" y="350"/>
                  </a:lnTo>
                  <a:lnTo>
                    <a:pt x="105" y="350"/>
                  </a:lnTo>
                  <a:lnTo>
                    <a:pt x="59" y="450"/>
                  </a:lnTo>
                  <a:lnTo>
                    <a:pt x="0" y="450"/>
                  </a:lnTo>
                  <a:lnTo>
                    <a:pt x="208" y="0"/>
                  </a:lnTo>
                  <a:lnTo>
                    <a:pt x="415" y="450"/>
                  </a:lnTo>
                  <a:lnTo>
                    <a:pt x="357" y="450"/>
                  </a:lnTo>
                  <a:close/>
                  <a:moveTo>
                    <a:pt x="288" y="302"/>
                  </a:moveTo>
                  <a:lnTo>
                    <a:pt x="208" y="124"/>
                  </a:lnTo>
                  <a:lnTo>
                    <a:pt x="127" y="302"/>
                  </a:lnTo>
                  <a:lnTo>
                    <a:pt x="288" y="3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Freeform 6"/>
            <p:cNvSpPr>
              <a:spLocks noEditPoints="1"/>
            </p:cNvSpPr>
            <p:nvPr/>
          </p:nvSpPr>
          <p:spPr bwMode="auto">
            <a:xfrm>
              <a:off x="1494" y="3367"/>
              <a:ext cx="103" cy="148"/>
            </a:xfrm>
            <a:custGeom>
              <a:avLst/>
              <a:gdLst>
                <a:gd name="T0" fmla="*/ 173 w 308"/>
                <a:gd name="T1" fmla="*/ 0 h 443"/>
                <a:gd name="T2" fmla="*/ 200 w 308"/>
                <a:gd name="T3" fmla="*/ 3 h 443"/>
                <a:gd name="T4" fmla="*/ 226 w 308"/>
                <a:gd name="T5" fmla="*/ 9 h 443"/>
                <a:gd name="T6" fmla="*/ 249 w 308"/>
                <a:gd name="T7" fmla="*/ 20 h 443"/>
                <a:gd name="T8" fmla="*/ 269 w 308"/>
                <a:gd name="T9" fmla="*/ 34 h 443"/>
                <a:gd name="T10" fmla="*/ 286 w 308"/>
                <a:gd name="T11" fmla="*/ 53 h 443"/>
                <a:gd name="T12" fmla="*/ 298 w 308"/>
                <a:gd name="T13" fmla="*/ 77 h 443"/>
                <a:gd name="T14" fmla="*/ 306 w 308"/>
                <a:gd name="T15" fmla="*/ 103 h 443"/>
                <a:gd name="T16" fmla="*/ 308 w 308"/>
                <a:gd name="T17" fmla="*/ 135 h 443"/>
                <a:gd name="T18" fmla="*/ 307 w 308"/>
                <a:gd name="T19" fmla="*/ 151 h 443"/>
                <a:gd name="T20" fmla="*/ 302 w 308"/>
                <a:gd name="T21" fmla="*/ 180 h 443"/>
                <a:gd name="T22" fmla="*/ 292 w 308"/>
                <a:gd name="T23" fmla="*/ 205 h 443"/>
                <a:gd name="T24" fmla="*/ 278 w 308"/>
                <a:gd name="T25" fmla="*/ 225 h 443"/>
                <a:gd name="T26" fmla="*/ 260 w 308"/>
                <a:gd name="T27" fmla="*/ 242 h 443"/>
                <a:gd name="T28" fmla="*/ 238 w 308"/>
                <a:gd name="T29" fmla="*/ 255 h 443"/>
                <a:gd name="T30" fmla="*/ 214 w 308"/>
                <a:gd name="T31" fmla="*/ 264 h 443"/>
                <a:gd name="T32" fmla="*/ 186 w 308"/>
                <a:gd name="T33" fmla="*/ 268 h 443"/>
                <a:gd name="T34" fmla="*/ 54 w 308"/>
                <a:gd name="T35" fmla="*/ 269 h 443"/>
                <a:gd name="T36" fmla="*/ 0 w 308"/>
                <a:gd name="T37" fmla="*/ 443 h 443"/>
                <a:gd name="T38" fmla="*/ 173 w 308"/>
                <a:gd name="T39" fmla="*/ 0 h 443"/>
                <a:gd name="T40" fmla="*/ 166 w 308"/>
                <a:gd name="T41" fmla="*/ 220 h 443"/>
                <a:gd name="T42" fmla="*/ 175 w 308"/>
                <a:gd name="T43" fmla="*/ 220 h 443"/>
                <a:gd name="T44" fmla="*/ 192 w 308"/>
                <a:gd name="T45" fmla="*/ 218 h 443"/>
                <a:gd name="T46" fmla="*/ 208 w 308"/>
                <a:gd name="T47" fmla="*/ 213 h 443"/>
                <a:gd name="T48" fmla="*/ 221 w 308"/>
                <a:gd name="T49" fmla="*/ 204 h 443"/>
                <a:gd name="T50" fmla="*/ 233 w 308"/>
                <a:gd name="T51" fmla="*/ 194 h 443"/>
                <a:gd name="T52" fmla="*/ 243 w 308"/>
                <a:gd name="T53" fmla="*/ 181 h 443"/>
                <a:gd name="T54" fmla="*/ 249 w 308"/>
                <a:gd name="T55" fmla="*/ 164 h 443"/>
                <a:gd name="T56" fmla="*/ 252 w 308"/>
                <a:gd name="T57" fmla="*/ 146 h 443"/>
                <a:gd name="T58" fmla="*/ 253 w 308"/>
                <a:gd name="T59" fmla="*/ 135 h 443"/>
                <a:gd name="T60" fmla="*/ 251 w 308"/>
                <a:gd name="T61" fmla="*/ 114 h 443"/>
                <a:gd name="T62" fmla="*/ 246 w 308"/>
                <a:gd name="T63" fmla="*/ 96 h 443"/>
                <a:gd name="T64" fmla="*/ 238 w 308"/>
                <a:gd name="T65" fmla="*/ 81 h 443"/>
                <a:gd name="T66" fmla="*/ 227 w 308"/>
                <a:gd name="T67" fmla="*/ 69 h 443"/>
                <a:gd name="T68" fmla="*/ 214 w 308"/>
                <a:gd name="T69" fmla="*/ 60 h 443"/>
                <a:gd name="T70" fmla="*/ 199 w 308"/>
                <a:gd name="T71" fmla="*/ 53 h 443"/>
                <a:gd name="T72" fmla="*/ 183 w 308"/>
                <a:gd name="T73" fmla="*/ 49 h 443"/>
                <a:gd name="T74" fmla="*/ 166 w 308"/>
                <a:gd name="T75" fmla="*/ 48 h 443"/>
                <a:gd name="T76" fmla="*/ 53 w 308"/>
                <a:gd name="T77" fmla="*/ 22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08" h="443">
                  <a:moveTo>
                    <a:pt x="173" y="0"/>
                  </a:moveTo>
                  <a:lnTo>
                    <a:pt x="173" y="0"/>
                  </a:lnTo>
                  <a:lnTo>
                    <a:pt x="186" y="1"/>
                  </a:lnTo>
                  <a:lnTo>
                    <a:pt x="200" y="3"/>
                  </a:lnTo>
                  <a:lnTo>
                    <a:pt x="214" y="6"/>
                  </a:lnTo>
                  <a:lnTo>
                    <a:pt x="226" y="9"/>
                  </a:lnTo>
                  <a:lnTo>
                    <a:pt x="238" y="14"/>
                  </a:lnTo>
                  <a:lnTo>
                    <a:pt x="249" y="20"/>
                  </a:lnTo>
                  <a:lnTo>
                    <a:pt x="260" y="27"/>
                  </a:lnTo>
                  <a:lnTo>
                    <a:pt x="269" y="34"/>
                  </a:lnTo>
                  <a:lnTo>
                    <a:pt x="278" y="43"/>
                  </a:lnTo>
                  <a:lnTo>
                    <a:pt x="286" y="53"/>
                  </a:lnTo>
                  <a:lnTo>
                    <a:pt x="292" y="64"/>
                  </a:lnTo>
                  <a:lnTo>
                    <a:pt x="298" y="77"/>
                  </a:lnTo>
                  <a:lnTo>
                    <a:pt x="302" y="90"/>
                  </a:lnTo>
                  <a:lnTo>
                    <a:pt x="306" y="103"/>
                  </a:lnTo>
                  <a:lnTo>
                    <a:pt x="307" y="118"/>
                  </a:lnTo>
                  <a:lnTo>
                    <a:pt x="308" y="135"/>
                  </a:lnTo>
                  <a:lnTo>
                    <a:pt x="308" y="135"/>
                  </a:lnTo>
                  <a:lnTo>
                    <a:pt x="307" y="151"/>
                  </a:lnTo>
                  <a:lnTo>
                    <a:pt x="306" y="166"/>
                  </a:lnTo>
                  <a:lnTo>
                    <a:pt x="302" y="180"/>
                  </a:lnTo>
                  <a:lnTo>
                    <a:pt x="298" y="193"/>
                  </a:lnTo>
                  <a:lnTo>
                    <a:pt x="292" y="205"/>
                  </a:lnTo>
                  <a:lnTo>
                    <a:pt x="286" y="216"/>
                  </a:lnTo>
                  <a:lnTo>
                    <a:pt x="278" y="225"/>
                  </a:lnTo>
                  <a:lnTo>
                    <a:pt x="269" y="235"/>
                  </a:lnTo>
                  <a:lnTo>
                    <a:pt x="260" y="242"/>
                  </a:lnTo>
                  <a:lnTo>
                    <a:pt x="249" y="250"/>
                  </a:lnTo>
                  <a:lnTo>
                    <a:pt x="238" y="255"/>
                  </a:lnTo>
                  <a:lnTo>
                    <a:pt x="226" y="260"/>
                  </a:lnTo>
                  <a:lnTo>
                    <a:pt x="214" y="264"/>
                  </a:lnTo>
                  <a:lnTo>
                    <a:pt x="200" y="267"/>
                  </a:lnTo>
                  <a:lnTo>
                    <a:pt x="186" y="268"/>
                  </a:lnTo>
                  <a:lnTo>
                    <a:pt x="173" y="269"/>
                  </a:lnTo>
                  <a:lnTo>
                    <a:pt x="54" y="269"/>
                  </a:lnTo>
                  <a:lnTo>
                    <a:pt x="54" y="443"/>
                  </a:lnTo>
                  <a:lnTo>
                    <a:pt x="0" y="443"/>
                  </a:lnTo>
                  <a:lnTo>
                    <a:pt x="0" y="0"/>
                  </a:lnTo>
                  <a:lnTo>
                    <a:pt x="173" y="0"/>
                  </a:lnTo>
                  <a:close/>
                  <a:moveTo>
                    <a:pt x="53" y="220"/>
                  </a:moveTo>
                  <a:lnTo>
                    <a:pt x="166" y="220"/>
                  </a:lnTo>
                  <a:lnTo>
                    <a:pt x="166" y="220"/>
                  </a:lnTo>
                  <a:lnTo>
                    <a:pt x="175" y="220"/>
                  </a:lnTo>
                  <a:lnTo>
                    <a:pt x="183" y="219"/>
                  </a:lnTo>
                  <a:lnTo>
                    <a:pt x="192" y="218"/>
                  </a:lnTo>
                  <a:lnTo>
                    <a:pt x="199" y="215"/>
                  </a:lnTo>
                  <a:lnTo>
                    <a:pt x="208" y="213"/>
                  </a:lnTo>
                  <a:lnTo>
                    <a:pt x="214" y="208"/>
                  </a:lnTo>
                  <a:lnTo>
                    <a:pt x="221" y="204"/>
                  </a:lnTo>
                  <a:lnTo>
                    <a:pt x="227" y="199"/>
                  </a:lnTo>
                  <a:lnTo>
                    <a:pt x="233" y="194"/>
                  </a:lnTo>
                  <a:lnTo>
                    <a:pt x="238" y="187"/>
                  </a:lnTo>
                  <a:lnTo>
                    <a:pt x="243" y="181"/>
                  </a:lnTo>
                  <a:lnTo>
                    <a:pt x="246" y="172"/>
                  </a:lnTo>
                  <a:lnTo>
                    <a:pt x="249" y="164"/>
                  </a:lnTo>
                  <a:lnTo>
                    <a:pt x="251" y="155"/>
                  </a:lnTo>
                  <a:lnTo>
                    <a:pt x="252" y="146"/>
                  </a:lnTo>
                  <a:lnTo>
                    <a:pt x="253" y="135"/>
                  </a:lnTo>
                  <a:lnTo>
                    <a:pt x="253" y="135"/>
                  </a:lnTo>
                  <a:lnTo>
                    <a:pt x="252" y="124"/>
                  </a:lnTo>
                  <a:lnTo>
                    <a:pt x="251" y="114"/>
                  </a:lnTo>
                  <a:lnTo>
                    <a:pt x="249" y="104"/>
                  </a:lnTo>
                  <a:lnTo>
                    <a:pt x="246" y="96"/>
                  </a:lnTo>
                  <a:lnTo>
                    <a:pt x="243" y="89"/>
                  </a:lnTo>
                  <a:lnTo>
                    <a:pt x="238" y="81"/>
                  </a:lnTo>
                  <a:lnTo>
                    <a:pt x="233" y="75"/>
                  </a:lnTo>
                  <a:lnTo>
                    <a:pt x="227" y="69"/>
                  </a:lnTo>
                  <a:lnTo>
                    <a:pt x="221" y="64"/>
                  </a:lnTo>
                  <a:lnTo>
                    <a:pt x="214" y="60"/>
                  </a:lnTo>
                  <a:lnTo>
                    <a:pt x="208" y="57"/>
                  </a:lnTo>
                  <a:lnTo>
                    <a:pt x="199" y="53"/>
                  </a:lnTo>
                  <a:lnTo>
                    <a:pt x="192" y="51"/>
                  </a:lnTo>
                  <a:lnTo>
                    <a:pt x="183" y="49"/>
                  </a:lnTo>
                  <a:lnTo>
                    <a:pt x="175" y="49"/>
                  </a:lnTo>
                  <a:lnTo>
                    <a:pt x="166" y="48"/>
                  </a:lnTo>
                  <a:lnTo>
                    <a:pt x="53" y="48"/>
                  </a:lnTo>
                  <a:lnTo>
                    <a:pt x="53" y="2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Freeform 7"/>
            <p:cNvSpPr>
              <a:spLocks/>
            </p:cNvSpPr>
            <p:nvPr/>
          </p:nvSpPr>
          <p:spPr bwMode="auto">
            <a:xfrm>
              <a:off x="1608" y="3367"/>
              <a:ext cx="127" cy="148"/>
            </a:xfrm>
            <a:custGeom>
              <a:avLst/>
              <a:gdLst>
                <a:gd name="T0" fmla="*/ 218 w 383"/>
                <a:gd name="T1" fmla="*/ 48 h 443"/>
                <a:gd name="T2" fmla="*/ 218 w 383"/>
                <a:gd name="T3" fmla="*/ 443 h 443"/>
                <a:gd name="T4" fmla="*/ 164 w 383"/>
                <a:gd name="T5" fmla="*/ 443 h 443"/>
                <a:gd name="T6" fmla="*/ 164 w 383"/>
                <a:gd name="T7" fmla="*/ 48 h 443"/>
                <a:gd name="T8" fmla="*/ 0 w 383"/>
                <a:gd name="T9" fmla="*/ 48 h 443"/>
                <a:gd name="T10" fmla="*/ 0 w 383"/>
                <a:gd name="T11" fmla="*/ 0 h 443"/>
                <a:gd name="T12" fmla="*/ 383 w 383"/>
                <a:gd name="T13" fmla="*/ 0 h 443"/>
                <a:gd name="T14" fmla="*/ 383 w 383"/>
                <a:gd name="T15" fmla="*/ 48 h 443"/>
                <a:gd name="T16" fmla="*/ 218 w 383"/>
                <a:gd name="T17" fmla="*/ 48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443">
                  <a:moveTo>
                    <a:pt x="218" y="48"/>
                  </a:moveTo>
                  <a:lnTo>
                    <a:pt x="218" y="443"/>
                  </a:lnTo>
                  <a:lnTo>
                    <a:pt x="164" y="443"/>
                  </a:lnTo>
                  <a:lnTo>
                    <a:pt x="164" y="48"/>
                  </a:lnTo>
                  <a:lnTo>
                    <a:pt x="0" y="48"/>
                  </a:lnTo>
                  <a:lnTo>
                    <a:pt x="0" y="0"/>
                  </a:lnTo>
                  <a:lnTo>
                    <a:pt x="383" y="0"/>
                  </a:lnTo>
                  <a:lnTo>
                    <a:pt x="383" y="48"/>
                  </a:lnTo>
                  <a:lnTo>
                    <a:pt x="218" y="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Freeform 8"/>
            <p:cNvSpPr>
              <a:spLocks noEditPoints="1"/>
            </p:cNvSpPr>
            <p:nvPr/>
          </p:nvSpPr>
          <p:spPr bwMode="auto">
            <a:xfrm>
              <a:off x="1876" y="3367"/>
              <a:ext cx="110" cy="148"/>
            </a:xfrm>
            <a:custGeom>
              <a:avLst/>
              <a:gdLst>
                <a:gd name="T0" fmla="*/ 55 w 330"/>
                <a:gd name="T1" fmla="*/ 266 h 443"/>
                <a:gd name="T2" fmla="*/ 0 w 330"/>
                <a:gd name="T3" fmla="*/ 443 h 443"/>
                <a:gd name="T4" fmla="*/ 171 w 330"/>
                <a:gd name="T5" fmla="*/ 0 h 443"/>
                <a:gd name="T6" fmla="*/ 186 w 330"/>
                <a:gd name="T7" fmla="*/ 1 h 443"/>
                <a:gd name="T8" fmla="*/ 212 w 330"/>
                <a:gd name="T9" fmla="*/ 5 h 443"/>
                <a:gd name="T10" fmla="*/ 237 w 330"/>
                <a:gd name="T11" fmla="*/ 13 h 443"/>
                <a:gd name="T12" fmla="*/ 258 w 330"/>
                <a:gd name="T13" fmla="*/ 26 h 443"/>
                <a:gd name="T14" fmla="*/ 277 w 330"/>
                <a:gd name="T15" fmla="*/ 43 h 443"/>
                <a:gd name="T16" fmla="*/ 291 w 330"/>
                <a:gd name="T17" fmla="*/ 63 h 443"/>
                <a:gd name="T18" fmla="*/ 301 w 330"/>
                <a:gd name="T19" fmla="*/ 89 h 443"/>
                <a:gd name="T20" fmla="*/ 306 w 330"/>
                <a:gd name="T21" fmla="*/ 117 h 443"/>
                <a:gd name="T22" fmla="*/ 307 w 330"/>
                <a:gd name="T23" fmla="*/ 133 h 443"/>
                <a:gd name="T24" fmla="*/ 305 w 330"/>
                <a:gd name="T25" fmla="*/ 156 h 443"/>
                <a:gd name="T26" fmla="*/ 301 w 330"/>
                <a:gd name="T27" fmla="*/ 178 h 443"/>
                <a:gd name="T28" fmla="*/ 295 w 330"/>
                <a:gd name="T29" fmla="*/ 196 h 443"/>
                <a:gd name="T30" fmla="*/ 285 w 330"/>
                <a:gd name="T31" fmla="*/ 213 h 443"/>
                <a:gd name="T32" fmla="*/ 274 w 330"/>
                <a:gd name="T33" fmla="*/ 228 h 443"/>
                <a:gd name="T34" fmla="*/ 260 w 330"/>
                <a:gd name="T35" fmla="*/ 239 h 443"/>
                <a:gd name="T36" fmla="*/ 244 w 330"/>
                <a:gd name="T37" fmla="*/ 249 h 443"/>
                <a:gd name="T38" fmla="*/ 226 w 330"/>
                <a:gd name="T39" fmla="*/ 256 h 443"/>
                <a:gd name="T40" fmla="*/ 269 w 330"/>
                <a:gd name="T41" fmla="*/ 443 h 443"/>
                <a:gd name="T42" fmla="*/ 164 w 330"/>
                <a:gd name="T43" fmla="*/ 218 h 443"/>
                <a:gd name="T44" fmla="*/ 174 w 330"/>
                <a:gd name="T45" fmla="*/ 217 h 443"/>
                <a:gd name="T46" fmla="*/ 190 w 330"/>
                <a:gd name="T47" fmla="*/ 215 h 443"/>
                <a:gd name="T48" fmla="*/ 206 w 330"/>
                <a:gd name="T49" fmla="*/ 210 h 443"/>
                <a:gd name="T50" fmla="*/ 220 w 330"/>
                <a:gd name="T51" fmla="*/ 202 h 443"/>
                <a:gd name="T52" fmla="*/ 231 w 330"/>
                <a:gd name="T53" fmla="*/ 191 h 443"/>
                <a:gd name="T54" fmla="*/ 241 w 330"/>
                <a:gd name="T55" fmla="*/ 179 h 443"/>
                <a:gd name="T56" fmla="*/ 248 w 330"/>
                <a:gd name="T57" fmla="*/ 163 h 443"/>
                <a:gd name="T58" fmla="*/ 251 w 330"/>
                <a:gd name="T59" fmla="*/ 144 h 443"/>
                <a:gd name="T60" fmla="*/ 251 w 330"/>
                <a:gd name="T61" fmla="*/ 133 h 443"/>
                <a:gd name="T62" fmla="*/ 250 w 330"/>
                <a:gd name="T63" fmla="*/ 113 h 443"/>
                <a:gd name="T64" fmla="*/ 245 w 330"/>
                <a:gd name="T65" fmla="*/ 95 h 443"/>
                <a:gd name="T66" fmla="*/ 237 w 330"/>
                <a:gd name="T67" fmla="*/ 81 h 443"/>
                <a:gd name="T68" fmla="*/ 226 w 330"/>
                <a:gd name="T69" fmla="*/ 69 h 443"/>
                <a:gd name="T70" fmla="*/ 213 w 330"/>
                <a:gd name="T71" fmla="*/ 60 h 443"/>
                <a:gd name="T72" fmla="*/ 198 w 330"/>
                <a:gd name="T73" fmla="*/ 53 h 443"/>
                <a:gd name="T74" fmla="*/ 182 w 330"/>
                <a:gd name="T75" fmla="*/ 49 h 443"/>
                <a:gd name="T76" fmla="*/ 164 w 330"/>
                <a:gd name="T77" fmla="*/ 48 h 443"/>
                <a:gd name="T78" fmla="*/ 54 w 330"/>
                <a:gd name="T79" fmla="*/ 218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30" h="443">
                  <a:moveTo>
                    <a:pt x="170" y="266"/>
                  </a:moveTo>
                  <a:lnTo>
                    <a:pt x="55" y="266"/>
                  </a:lnTo>
                  <a:lnTo>
                    <a:pt x="55" y="443"/>
                  </a:lnTo>
                  <a:lnTo>
                    <a:pt x="0" y="443"/>
                  </a:lnTo>
                  <a:lnTo>
                    <a:pt x="0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86" y="1"/>
                  </a:lnTo>
                  <a:lnTo>
                    <a:pt x="199" y="3"/>
                  </a:lnTo>
                  <a:lnTo>
                    <a:pt x="212" y="5"/>
                  </a:lnTo>
                  <a:lnTo>
                    <a:pt x="225" y="9"/>
                  </a:lnTo>
                  <a:lnTo>
                    <a:pt x="237" y="13"/>
                  </a:lnTo>
                  <a:lnTo>
                    <a:pt x="248" y="20"/>
                  </a:lnTo>
                  <a:lnTo>
                    <a:pt x="258" y="26"/>
                  </a:lnTo>
                  <a:lnTo>
                    <a:pt x="268" y="33"/>
                  </a:lnTo>
                  <a:lnTo>
                    <a:pt x="277" y="43"/>
                  </a:lnTo>
                  <a:lnTo>
                    <a:pt x="284" y="52"/>
                  </a:lnTo>
                  <a:lnTo>
                    <a:pt x="291" y="63"/>
                  </a:lnTo>
                  <a:lnTo>
                    <a:pt x="297" y="75"/>
                  </a:lnTo>
                  <a:lnTo>
                    <a:pt x="301" y="89"/>
                  </a:lnTo>
                  <a:lnTo>
                    <a:pt x="304" y="102"/>
                  </a:lnTo>
                  <a:lnTo>
                    <a:pt x="306" y="117"/>
                  </a:lnTo>
                  <a:lnTo>
                    <a:pt x="307" y="133"/>
                  </a:lnTo>
                  <a:lnTo>
                    <a:pt x="307" y="133"/>
                  </a:lnTo>
                  <a:lnTo>
                    <a:pt x="306" y="145"/>
                  </a:lnTo>
                  <a:lnTo>
                    <a:pt x="305" y="156"/>
                  </a:lnTo>
                  <a:lnTo>
                    <a:pt x="304" y="167"/>
                  </a:lnTo>
                  <a:lnTo>
                    <a:pt x="301" y="178"/>
                  </a:lnTo>
                  <a:lnTo>
                    <a:pt x="298" y="187"/>
                  </a:lnTo>
                  <a:lnTo>
                    <a:pt x="295" y="196"/>
                  </a:lnTo>
                  <a:lnTo>
                    <a:pt x="289" y="205"/>
                  </a:lnTo>
                  <a:lnTo>
                    <a:pt x="285" y="213"/>
                  </a:lnTo>
                  <a:lnTo>
                    <a:pt x="279" y="220"/>
                  </a:lnTo>
                  <a:lnTo>
                    <a:pt x="274" y="228"/>
                  </a:lnTo>
                  <a:lnTo>
                    <a:pt x="266" y="234"/>
                  </a:lnTo>
                  <a:lnTo>
                    <a:pt x="260" y="239"/>
                  </a:lnTo>
                  <a:lnTo>
                    <a:pt x="251" y="245"/>
                  </a:lnTo>
                  <a:lnTo>
                    <a:pt x="244" y="249"/>
                  </a:lnTo>
                  <a:lnTo>
                    <a:pt x="235" y="253"/>
                  </a:lnTo>
                  <a:lnTo>
                    <a:pt x="226" y="256"/>
                  </a:lnTo>
                  <a:lnTo>
                    <a:pt x="330" y="443"/>
                  </a:lnTo>
                  <a:lnTo>
                    <a:pt x="269" y="443"/>
                  </a:lnTo>
                  <a:lnTo>
                    <a:pt x="170" y="266"/>
                  </a:lnTo>
                  <a:close/>
                  <a:moveTo>
                    <a:pt x="164" y="218"/>
                  </a:moveTo>
                  <a:lnTo>
                    <a:pt x="164" y="218"/>
                  </a:lnTo>
                  <a:lnTo>
                    <a:pt x="174" y="217"/>
                  </a:lnTo>
                  <a:lnTo>
                    <a:pt x="182" y="216"/>
                  </a:lnTo>
                  <a:lnTo>
                    <a:pt x="190" y="215"/>
                  </a:lnTo>
                  <a:lnTo>
                    <a:pt x="198" y="213"/>
                  </a:lnTo>
                  <a:lnTo>
                    <a:pt x="206" y="210"/>
                  </a:lnTo>
                  <a:lnTo>
                    <a:pt x="213" y="206"/>
                  </a:lnTo>
                  <a:lnTo>
                    <a:pt x="220" y="202"/>
                  </a:lnTo>
                  <a:lnTo>
                    <a:pt x="226" y="197"/>
                  </a:lnTo>
                  <a:lnTo>
                    <a:pt x="231" y="191"/>
                  </a:lnTo>
                  <a:lnTo>
                    <a:pt x="237" y="185"/>
                  </a:lnTo>
                  <a:lnTo>
                    <a:pt x="241" y="179"/>
                  </a:lnTo>
                  <a:lnTo>
                    <a:pt x="245" y="170"/>
                  </a:lnTo>
                  <a:lnTo>
                    <a:pt x="248" y="163"/>
                  </a:lnTo>
                  <a:lnTo>
                    <a:pt x="250" y="153"/>
                  </a:lnTo>
                  <a:lnTo>
                    <a:pt x="251" y="144"/>
                  </a:lnTo>
                  <a:lnTo>
                    <a:pt x="251" y="133"/>
                  </a:lnTo>
                  <a:lnTo>
                    <a:pt x="251" y="133"/>
                  </a:lnTo>
                  <a:lnTo>
                    <a:pt x="251" y="122"/>
                  </a:lnTo>
                  <a:lnTo>
                    <a:pt x="250" y="113"/>
                  </a:lnTo>
                  <a:lnTo>
                    <a:pt x="248" y="103"/>
                  </a:lnTo>
                  <a:lnTo>
                    <a:pt x="245" y="95"/>
                  </a:lnTo>
                  <a:lnTo>
                    <a:pt x="241" y="87"/>
                  </a:lnTo>
                  <a:lnTo>
                    <a:pt x="237" y="81"/>
                  </a:lnTo>
                  <a:lnTo>
                    <a:pt x="231" y="75"/>
                  </a:lnTo>
                  <a:lnTo>
                    <a:pt x="226" y="69"/>
                  </a:lnTo>
                  <a:lnTo>
                    <a:pt x="220" y="64"/>
                  </a:lnTo>
                  <a:lnTo>
                    <a:pt x="213" y="60"/>
                  </a:lnTo>
                  <a:lnTo>
                    <a:pt x="206" y="57"/>
                  </a:lnTo>
                  <a:lnTo>
                    <a:pt x="198" y="53"/>
                  </a:lnTo>
                  <a:lnTo>
                    <a:pt x="190" y="51"/>
                  </a:lnTo>
                  <a:lnTo>
                    <a:pt x="182" y="49"/>
                  </a:lnTo>
                  <a:lnTo>
                    <a:pt x="174" y="49"/>
                  </a:lnTo>
                  <a:lnTo>
                    <a:pt x="164" y="48"/>
                  </a:lnTo>
                  <a:lnTo>
                    <a:pt x="54" y="48"/>
                  </a:lnTo>
                  <a:lnTo>
                    <a:pt x="54" y="218"/>
                  </a:lnTo>
                  <a:lnTo>
                    <a:pt x="164" y="2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Freeform 9"/>
            <p:cNvSpPr>
              <a:spLocks noEditPoints="1"/>
            </p:cNvSpPr>
            <p:nvPr/>
          </p:nvSpPr>
          <p:spPr bwMode="auto">
            <a:xfrm>
              <a:off x="1998" y="3365"/>
              <a:ext cx="138" cy="150"/>
            </a:xfrm>
            <a:custGeom>
              <a:avLst/>
              <a:gdLst>
                <a:gd name="T0" fmla="*/ 356 w 415"/>
                <a:gd name="T1" fmla="*/ 450 h 450"/>
                <a:gd name="T2" fmla="*/ 310 w 415"/>
                <a:gd name="T3" fmla="*/ 350 h 450"/>
                <a:gd name="T4" fmla="*/ 104 w 415"/>
                <a:gd name="T5" fmla="*/ 350 h 450"/>
                <a:gd name="T6" fmla="*/ 58 w 415"/>
                <a:gd name="T7" fmla="*/ 450 h 450"/>
                <a:gd name="T8" fmla="*/ 0 w 415"/>
                <a:gd name="T9" fmla="*/ 450 h 450"/>
                <a:gd name="T10" fmla="*/ 207 w 415"/>
                <a:gd name="T11" fmla="*/ 0 h 450"/>
                <a:gd name="T12" fmla="*/ 415 w 415"/>
                <a:gd name="T13" fmla="*/ 450 h 450"/>
                <a:gd name="T14" fmla="*/ 356 w 415"/>
                <a:gd name="T15" fmla="*/ 450 h 450"/>
                <a:gd name="T16" fmla="*/ 288 w 415"/>
                <a:gd name="T17" fmla="*/ 302 h 450"/>
                <a:gd name="T18" fmla="*/ 207 w 415"/>
                <a:gd name="T19" fmla="*/ 124 h 450"/>
                <a:gd name="T20" fmla="*/ 127 w 415"/>
                <a:gd name="T21" fmla="*/ 302 h 450"/>
                <a:gd name="T22" fmla="*/ 288 w 415"/>
                <a:gd name="T23" fmla="*/ 302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5" h="450">
                  <a:moveTo>
                    <a:pt x="356" y="450"/>
                  </a:moveTo>
                  <a:lnTo>
                    <a:pt x="310" y="350"/>
                  </a:lnTo>
                  <a:lnTo>
                    <a:pt x="104" y="350"/>
                  </a:lnTo>
                  <a:lnTo>
                    <a:pt x="58" y="450"/>
                  </a:lnTo>
                  <a:lnTo>
                    <a:pt x="0" y="450"/>
                  </a:lnTo>
                  <a:lnTo>
                    <a:pt x="207" y="0"/>
                  </a:lnTo>
                  <a:lnTo>
                    <a:pt x="415" y="450"/>
                  </a:lnTo>
                  <a:lnTo>
                    <a:pt x="356" y="450"/>
                  </a:lnTo>
                  <a:close/>
                  <a:moveTo>
                    <a:pt x="288" y="302"/>
                  </a:moveTo>
                  <a:lnTo>
                    <a:pt x="207" y="124"/>
                  </a:lnTo>
                  <a:lnTo>
                    <a:pt x="127" y="302"/>
                  </a:lnTo>
                  <a:lnTo>
                    <a:pt x="288" y="3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Freeform 10"/>
            <p:cNvSpPr>
              <a:spLocks/>
            </p:cNvSpPr>
            <p:nvPr/>
          </p:nvSpPr>
          <p:spPr bwMode="auto">
            <a:xfrm>
              <a:off x="1716" y="3365"/>
              <a:ext cx="139" cy="150"/>
            </a:xfrm>
            <a:custGeom>
              <a:avLst/>
              <a:gdLst>
                <a:gd name="T0" fmla="*/ 208 w 417"/>
                <a:gd name="T1" fmla="*/ 124 h 450"/>
                <a:gd name="T2" fmla="*/ 357 w 417"/>
                <a:gd name="T3" fmla="*/ 450 h 450"/>
                <a:gd name="T4" fmla="*/ 417 w 417"/>
                <a:gd name="T5" fmla="*/ 450 h 450"/>
                <a:gd name="T6" fmla="*/ 208 w 417"/>
                <a:gd name="T7" fmla="*/ 0 h 450"/>
                <a:gd name="T8" fmla="*/ 0 w 417"/>
                <a:gd name="T9" fmla="*/ 450 h 450"/>
                <a:gd name="T10" fmla="*/ 59 w 417"/>
                <a:gd name="T11" fmla="*/ 450 h 450"/>
                <a:gd name="T12" fmla="*/ 208 w 417"/>
                <a:gd name="T13" fmla="*/ 124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7" h="450">
                  <a:moveTo>
                    <a:pt x="208" y="124"/>
                  </a:moveTo>
                  <a:lnTo>
                    <a:pt x="357" y="450"/>
                  </a:lnTo>
                  <a:lnTo>
                    <a:pt x="417" y="450"/>
                  </a:lnTo>
                  <a:lnTo>
                    <a:pt x="208" y="0"/>
                  </a:lnTo>
                  <a:lnTo>
                    <a:pt x="0" y="450"/>
                  </a:lnTo>
                  <a:lnTo>
                    <a:pt x="59" y="450"/>
                  </a:lnTo>
                  <a:lnTo>
                    <a:pt x="208" y="1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Freeform 11"/>
            <p:cNvSpPr>
              <a:spLocks noEditPoints="1"/>
            </p:cNvSpPr>
            <p:nvPr/>
          </p:nvSpPr>
          <p:spPr bwMode="auto">
            <a:xfrm>
              <a:off x="1334" y="3365"/>
              <a:ext cx="138" cy="150"/>
            </a:xfrm>
            <a:custGeom>
              <a:avLst/>
              <a:gdLst>
                <a:gd name="T0" fmla="*/ 357 w 415"/>
                <a:gd name="T1" fmla="*/ 450 h 450"/>
                <a:gd name="T2" fmla="*/ 311 w 415"/>
                <a:gd name="T3" fmla="*/ 350 h 450"/>
                <a:gd name="T4" fmla="*/ 105 w 415"/>
                <a:gd name="T5" fmla="*/ 350 h 450"/>
                <a:gd name="T6" fmla="*/ 59 w 415"/>
                <a:gd name="T7" fmla="*/ 450 h 450"/>
                <a:gd name="T8" fmla="*/ 0 w 415"/>
                <a:gd name="T9" fmla="*/ 450 h 450"/>
                <a:gd name="T10" fmla="*/ 208 w 415"/>
                <a:gd name="T11" fmla="*/ 0 h 450"/>
                <a:gd name="T12" fmla="*/ 415 w 415"/>
                <a:gd name="T13" fmla="*/ 450 h 450"/>
                <a:gd name="T14" fmla="*/ 357 w 415"/>
                <a:gd name="T15" fmla="*/ 450 h 450"/>
                <a:gd name="T16" fmla="*/ 288 w 415"/>
                <a:gd name="T17" fmla="*/ 302 h 450"/>
                <a:gd name="T18" fmla="*/ 208 w 415"/>
                <a:gd name="T19" fmla="*/ 124 h 450"/>
                <a:gd name="T20" fmla="*/ 127 w 415"/>
                <a:gd name="T21" fmla="*/ 302 h 450"/>
                <a:gd name="T22" fmla="*/ 288 w 415"/>
                <a:gd name="T23" fmla="*/ 302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5" h="450">
                  <a:moveTo>
                    <a:pt x="357" y="450"/>
                  </a:moveTo>
                  <a:lnTo>
                    <a:pt x="311" y="350"/>
                  </a:lnTo>
                  <a:lnTo>
                    <a:pt x="105" y="350"/>
                  </a:lnTo>
                  <a:lnTo>
                    <a:pt x="59" y="450"/>
                  </a:lnTo>
                  <a:lnTo>
                    <a:pt x="0" y="450"/>
                  </a:lnTo>
                  <a:lnTo>
                    <a:pt x="208" y="0"/>
                  </a:lnTo>
                  <a:lnTo>
                    <a:pt x="415" y="450"/>
                  </a:lnTo>
                  <a:lnTo>
                    <a:pt x="357" y="450"/>
                  </a:lnTo>
                  <a:close/>
                  <a:moveTo>
                    <a:pt x="288" y="302"/>
                  </a:moveTo>
                  <a:lnTo>
                    <a:pt x="208" y="124"/>
                  </a:lnTo>
                  <a:lnTo>
                    <a:pt x="127" y="302"/>
                  </a:lnTo>
                  <a:lnTo>
                    <a:pt x="288" y="3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1494" y="3367"/>
              <a:ext cx="103" cy="148"/>
            </a:xfrm>
            <a:custGeom>
              <a:avLst/>
              <a:gdLst>
                <a:gd name="T0" fmla="*/ 173 w 308"/>
                <a:gd name="T1" fmla="*/ 0 h 443"/>
                <a:gd name="T2" fmla="*/ 200 w 308"/>
                <a:gd name="T3" fmla="*/ 3 h 443"/>
                <a:gd name="T4" fmla="*/ 226 w 308"/>
                <a:gd name="T5" fmla="*/ 9 h 443"/>
                <a:gd name="T6" fmla="*/ 249 w 308"/>
                <a:gd name="T7" fmla="*/ 20 h 443"/>
                <a:gd name="T8" fmla="*/ 269 w 308"/>
                <a:gd name="T9" fmla="*/ 34 h 443"/>
                <a:gd name="T10" fmla="*/ 286 w 308"/>
                <a:gd name="T11" fmla="*/ 53 h 443"/>
                <a:gd name="T12" fmla="*/ 298 w 308"/>
                <a:gd name="T13" fmla="*/ 77 h 443"/>
                <a:gd name="T14" fmla="*/ 306 w 308"/>
                <a:gd name="T15" fmla="*/ 103 h 443"/>
                <a:gd name="T16" fmla="*/ 308 w 308"/>
                <a:gd name="T17" fmla="*/ 135 h 443"/>
                <a:gd name="T18" fmla="*/ 307 w 308"/>
                <a:gd name="T19" fmla="*/ 151 h 443"/>
                <a:gd name="T20" fmla="*/ 302 w 308"/>
                <a:gd name="T21" fmla="*/ 180 h 443"/>
                <a:gd name="T22" fmla="*/ 292 w 308"/>
                <a:gd name="T23" fmla="*/ 205 h 443"/>
                <a:gd name="T24" fmla="*/ 278 w 308"/>
                <a:gd name="T25" fmla="*/ 225 h 443"/>
                <a:gd name="T26" fmla="*/ 260 w 308"/>
                <a:gd name="T27" fmla="*/ 242 h 443"/>
                <a:gd name="T28" fmla="*/ 238 w 308"/>
                <a:gd name="T29" fmla="*/ 255 h 443"/>
                <a:gd name="T30" fmla="*/ 214 w 308"/>
                <a:gd name="T31" fmla="*/ 264 h 443"/>
                <a:gd name="T32" fmla="*/ 186 w 308"/>
                <a:gd name="T33" fmla="*/ 268 h 443"/>
                <a:gd name="T34" fmla="*/ 54 w 308"/>
                <a:gd name="T35" fmla="*/ 269 h 443"/>
                <a:gd name="T36" fmla="*/ 0 w 308"/>
                <a:gd name="T37" fmla="*/ 443 h 443"/>
                <a:gd name="T38" fmla="*/ 173 w 308"/>
                <a:gd name="T39" fmla="*/ 0 h 443"/>
                <a:gd name="T40" fmla="*/ 166 w 308"/>
                <a:gd name="T41" fmla="*/ 220 h 443"/>
                <a:gd name="T42" fmla="*/ 175 w 308"/>
                <a:gd name="T43" fmla="*/ 220 h 443"/>
                <a:gd name="T44" fmla="*/ 192 w 308"/>
                <a:gd name="T45" fmla="*/ 218 h 443"/>
                <a:gd name="T46" fmla="*/ 208 w 308"/>
                <a:gd name="T47" fmla="*/ 213 h 443"/>
                <a:gd name="T48" fmla="*/ 221 w 308"/>
                <a:gd name="T49" fmla="*/ 204 h 443"/>
                <a:gd name="T50" fmla="*/ 233 w 308"/>
                <a:gd name="T51" fmla="*/ 194 h 443"/>
                <a:gd name="T52" fmla="*/ 243 w 308"/>
                <a:gd name="T53" fmla="*/ 181 h 443"/>
                <a:gd name="T54" fmla="*/ 249 w 308"/>
                <a:gd name="T55" fmla="*/ 164 h 443"/>
                <a:gd name="T56" fmla="*/ 252 w 308"/>
                <a:gd name="T57" fmla="*/ 146 h 443"/>
                <a:gd name="T58" fmla="*/ 253 w 308"/>
                <a:gd name="T59" fmla="*/ 135 h 443"/>
                <a:gd name="T60" fmla="*/ 251 w 308"/>
                <a:gd name="T61" fmla="*/ 114 h 443"/>
                <a:gd name="T62" fmla="*/ 246 w 308"/>
                <a:gd name="T63" fmla="*/ 96 h 443"/>
                <a:gd name="T64" fmla="*/ 238 w 308"/>
                <a:gd name="T65" fmla="*/ 81 h 443"/>
                <a:gd name="T66" fmla="*/ 227 w 308"/>
                <a:gd name="T67" fmla="*/ 69 h 443"/>
                <a:gd name="T68" fmla="*/ 214 w 308"/>
                <a:gd name="T69" fmla="*/ 60 h 443"/>
                <a:gd name="T70" fmla="*/ 199 w 308"/>
                <a:gd name="T71" fmla="*/ 53 h 443"/>
                <a:gd name="T72" fmla="*/ 183 w 308"/>
                <a:gd name="T73" fmla="*/ 49 h 443"/>
                <a:gd name="T74" fmla="*/ 166 w 308"/>
                <a:gd name="T75" fmla="*/ 48 h 443"/>
                <a:gd name="T76" fmla="*/ 53 w 308"/>
                <a:gd name="T77" fmla="*/ 22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08" h="443">
                  <a:moveTo>
                    <a:pt x="173" y="0"/>
                  </a:moveTo>
                  <a:lnTo>
                    <a:pt x="173" y="0"/>
                  </a:lnTo>
                  <a:lnTo>
                    <a:pt x="186" y="1"/>
                  </a:lnTo>
                  <a:lnTo>
                    <a:pt x="200" y="3"/>
                  </a:lnTo>
                  <a:lnTo>
                    <a:pt x="214" y="6"/>
                  </a:lnTo>
                  <a:lnTo>
                    <a:pt x="226" y="9"/>
                  </a:lnTo>
                  <a:lnTo>
                    <a:pt x="238" y="14"/>
                  </a:lnTo>
                  <a:lnTo>
                    <a:pt x="249" y="20"/>
                  </a:lnTo>
                  <a:lnTo>
                    <a:pt x="260" y="27"/>
                  </a:lnTo>
                  <a:lnTo>
                    <a:pt x="269" y="34"/>
                  </a:lnTo>
                  <a:lnTo>
                    <a:pt x="278" y="43"/>
                  </a:lnTo>
                  <a:lnTo>
                    <a:pt x="286" y="53"/>
                  </a:lnTo>
                  <a:lnTo>
                    <a:pt x="292" y="64"/>
                  </a:lnTo>
                  <a:lnTo>
                    <a:pt x="298" y="77"/>
                  </a:lnTo>
                  <a:lnTo>
                    <a:pt x="302" y="90"/>
                  </a:lnTo>
                  <a:lnTo>
                    <a:pt x="306" y="103"/>
                  </a:lnTo>
                  <a:lnTo>
                    <a:pt x="307" y="118"/>
                  </a:lnTo>
                  <a:lnTo>
                    <a:pt x="308" y="135"/>
                  </a:lnTo>
                  <a:lnTo>
                    <a:pt x="308" y="135"/>
                  </a:lnTo>
                  <a:lnTo>
                    <a:pt x="307" y="151"/>
                  </a:lnTo>
                  <a:lnTo>
                    <a:pt x="306" y="166"/>
                  </a:lnTo>
                  <a:lnTo>
                    <a:pt x="302" y="180"/>
                  </a:lnTo>
                  <a:lnTo>
                    <a:pt x="298" y="193"/>
                  </a:lnTo>
                  <a:lnTo>
                    <a:pt x="292" y="205"/>
                  </a:lnTo>
                  <a:lnTo>
                    <a:pt x="286" y="216"/>
                  </a:lnTo>
                  <a:lnTo>
                    <a:pt x="278" y="225"/>
                  </a:lnTo>
                  <a:lnTo>
                    <a:pt x="269" y="235"/>
                  </a:lnTo>
                  <a:lnTo>
                    <a:pt x="260" y="242"/>
                  </a:lnTo>
                  <a:lnTo>
                    <a:pt x="249" y="250"/>
                  </a:lnTo>
                  <a:lnTo>
                    <a:pt x="238" y="255"/>
                  </a:lnTo>
                  <a:lnTo>
                    <a:pt x="226" y="260"/>
                  </a:lnTo>
                  <a:lnTo>
                    <a:pt x="214" y="264"/>
                  </a:lnTo>
                  <a:lnTo>
                    <a:pt x="200" y="267"/>
                  </a:lnTo>
                  <a:lnTo>
                    <a:pt x="186" y="268"/>
                  </a:lnTo>
                  <a:lnTo>
                    <a:pt x="173" y="269"/>
                  </a:lnTo>
                  <a:lnTo>
                    <a:pt x="54" y="269"/>
                  </a:lnTo>
                  <a:lnTo>
                    <a:pt x="54" y="443"/>
                  </a:lnTo>
                  <a:lnTo>
                    <a:pt x="0" y="443"/>
                  </a:lnTo>
                  <a:lnTo>
                    <a:pt x="0" y="0"/>
                  </a:lnTo>
                  <a:lnTo>
                    <a:pt x="173" y="0"/>
                  </a:lnTo>
                  <a:close/>
                  <a:moveTo>
                    <a:pt x="53" y="220"/>
                  </a:moveTo>
                  <a:lnTo>
                    <a:pt x="166" y="220"/>
                  </a:lnTo>
                  <a:lnTo>
                    <a:pt x="166" y="220"/>
                  </a:lnTo>
                  <a:lnTo>
                    <a:pt x="175" y="220"/>
                  </a:lnTo>
                  <a:lnTo>
                    <a:pt x="183" y="219"/>
                  </a:lnTo>
                  <a:lnTo>
                    <a:pt x="192" y="218"/>
                  </a:lnTo>
                  <a:lnTo>
                    <a:pt x="199" y="215"/>
                  </a:lnTo>
                  <a:lnTo>
                    <a:pt x="208" y="213"/>
                  </a:lnTo>
                  <a:lnTo>
                    <a:pt x="214" y="208"/>
                  </a:lnTo>
                  <a:lnTo>
                    <a:pt x="221" y="204"/>
                  </a:lnTo>
                  <a:lnTo>
                    <a:pt x="227" y="199"/>
                  </a:lnTo>
                  <a:lnTo>
                    <a:pt x="233" y="194"/>
                  </a:lnTo>
                  <a:lnTo>
                    <a:pt x="238" y="187"/>
                  </a:lnTo>
                  <a:lnTo>
                    <a:pt x="243" y="181"/>
                  </a:lnTo>
                  <a:lnTo>
                    <a:pt x="246" y="172"/>
                  </a:lnTo>
                  <a:lnTo>
                    <a:pt x="249" y="164"/>
                  </a:lnTo>
                  <a:lnTo>
                    <a:pt x="251" y="155"/>
                  </a:lnTo>
                  <a:lnTo>
                    <a:pt x="252" y="146"/>
                  </a:lnTo>
                  <a:lnTo>
                    <a:pt x="253" y="135"/>
                  </a:lnTo>
                  <a:lnTo>
                    <a:pt x="253" y="135"/>
                  </a:lnTo>
                  <a:lnTo>
                    <a:pt x="252" y="124"/>
                  </a:lnTo>
                  <a:lnTo>
                    <a:pt x="251" y="114"/>
                  </a:lnTo>
                  <a:lnTo>
                    <a:pt x="249" y="104"/>
                  </a:lnTo>
                  <a:lnTo>
                    <a:pt x="246" y="96"/>
                  </a:lnTo>
                  <a:lnTo>
                    <a:pt x="243" y="89"/>
                  </a:lnTo>
                  <a:lnTo>
                    <a:pt x="238" y="81"/>
                  </a:lnTo>
                  <a:lnTo>
                    <a:pt x="233" y="75"/>
                  </a:lnTo>
                  <a:lnTo>
                    <a:pt x="227" y="69"/>
                  </a:lnTo>
                  <a:lnTo>
                    <a:pt x="221" y="64"/>
                  </a:lnTo>
                  <a:lnTo>
                    <a:pt x="214" y="60"/>
                  </a:lnTo>
                  <a:lnTo>
                    <a:pt x="208" y="57"/>
                  </a:lnTo>
                  <a:lnTo>
                    <a:pt x="199" y="53"/>
                  </a:lnTo>
                  <a:lnTo>
                    <a:pt x="192" y="51"/>
                  </a:lnTo>
                  <a:lnTo>
                    <a:pt x="183" y="49"/>
                  </a:lnTo>
                  <a:lnTo>
                    <a:pt x="175" y="49"/>
                  </a:lnTo>
                  <a:lnTo>
                    <a:pt x="166" y="48"/>
                  </a:lnTo>
                  <a:lnTo>
                    <a:pt x="53" y="48"/>
                  </a:lnTo>
                  <a:lnTo>
                    <a:pt x="53" y="2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1608" y="3367"/>
              <a:ext cx="127" cy="148"/>
            </a:xfrm>
            <a:custGeom>
              <a:avLst/>
              <a:gdLst>
                <a:gd name="T0" fmla="*/ 218 w 383"/>
                <a:gd name="T1" fmla="*/ 48 h 443"/>
                <a:gd name="T2" fmla="*/ 218 w 383"/>
                <a:gd name="T3" fmla="*/ 443 h 443"/>
                <a:gd name="T4" fmla="*/ 164 w 383"/>
                <a:gd name="T5" fmla="*/ 443 h 443"/>
                <a:gd name="T6" fmla="*/ 164 w 383"/>
                <a:gd name="T7" fmla="*/ 48 h 443"/>
                <a:gd name="T8" fmla="*/ 0 w 383"/>
                <a:gd name="T9" fmla="*/ 48 h 443"/>
                <a:gd name="T10" fmla="*/ 0 w 383"/>
                <a:gd name="T11" fmla="*/ 0 h 443"/>
                <a:gd name="T12" fmla="*/ 383 w 383"/>
                <a:gd name="T13" fmla="*/ 0 h 443"/>
                <a:gd name="T14" fmla="*/ 383 w 383"/>
                <a:gd name="T15" fmla="*/ 48 h 443"/>
                <a:gd name="T16" fmla="*/ 218 w 383"/>
                <a:gd name="T17" fmla="*/ 48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443">
                  <a:moveTo>
                    <a:pt x="218" y="48"/>
                  </a:moveTo>
                  <a:lnTo>
                    <a:pt x="218" y="443"/>
                  </a:lnTo>
                  <a:lnTo>
                    <a:pt x="164" y="443"/>
                  </a:lnTo>
                  <a:lnTo>
                    <a:pt x="164" y="48"/>
                  </a:lnTo>
                  <a:lnTo>
                    <a:pt x="0" y="48"/>
                  </a:lnTo>
                  <a:lnTo>
                    <a:pt x="0" y="0"/>
                  </a:lnTo>
                  <a:lnTo>
                    <a:pt x="383" y="0"/>
                  </a:lnTo>
                  <a:lnTo>
                    <a:pt x="383" y="48"/>
                  </a:lnTo>
                  <a:lnTo>
                    <a:pt x="218" y="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Freeform 14"/>
            <p:cNvSpPr>
              <a:spLocks noEditPoints="1"/>
            </p:cNvSpPr>
            <p:nvPr/>
          </p:nvSpPr>
          <p:spPr bwMode="auto">
            <a:xfrm>
              <a:off x="1876" y="3367"/>
              <a:ext cx="110" cy="148"/>
            </a:xfrm>
            <a:custGeom>
              <a:avLst/>
              <a:gdLst>
                <a:gd name="T0" fmla="*/ 55 w 330"/>
                <a:gd name="T1" fmla="*/ 266 h 443"/>
                <a:gd name="T2" fmla="*/ 0 w 330"/>
                <a:gd name="T3" fmla="*/ 443 h 443"/>
                <a:gd name="T4" fmla="*/ 171 w 330"/>
                <a:gd name="T5" fmla="*/ 0 h 443"/>
                <a:gd name="T6" fmla="*/ 186 w 330"/>
                <a:gd name="T7" fmla="*/ 1 h 443"/>
                <a:gd name="T8" fmla="*/ 212 w 330"/>
                <a:gd name="T9" fmla="*/ 5 h 443"/>
                <a:gd name="T10" fmla="*/ 237 w 330"/>
                <a:gd name="T11" fmla="*/ 13 h 443"/>
                <a:gd name="T12" fmla="*/ 258 w 330"/>
                <a:gd name="T13" fmla="*/ 26 h 443"/>
                <a:gd name="T14" fmla="*/ 277 w 330"/>
                <a:gd name="T15" fmla="*/ 43 h 443"/>
                <a:gd name="T16" fmla="*/ 291 w 330"/>
                <a:gd name="T17" fmla="*/ 63 h 443"/>
                <a:gd name="T18" fmla="*/ 301 w 330"/>
                <a:gd name="T19" fmla="*/ 89 h 443"/>
                <a:gd name="T20" fmla="*/ 306 w 330"/>
                <a:gd name="T21" fmla="*/ 117 h 443"/>
                <a:gd name="T22" fmla="*/ 307 w 330"/>
                <a:gd name="T23" fmla="*/ 133 h 443"/>
                <a:gd name="T24" fmla="*/ 305 w 330"/>
                <a:gd name="T25" fmla="*/ 156 h 443"/>
                <a:gd name="T26" fmla="*/ 301 w 330"/>
                <a:gd name="T27" fmla="*/ 178 h 443"/>
                <a:gd name="T28" fmla="*/ 295 w 330"/>
                <a:gd name="T29" fmla="*/ 196 h 443"/>
                <a:gd name="T30" fmla="*/ 285 w 330"/>
                <a:gd name="T31" fmla="*/ 213 h 443"/>
                <a:gd name="T32" fmla="*/ 274 w 330"/>
                <a:gd name="T33" fmla="*/ 228 h 443"/>
                <a:gd name="T34" fmla="*/ 260 w 330"/>
                <a:gd name="T35" fmla="*/ 239 h 443"/>
                <a:gd name="T36" fmla="*/ 244 w 330"/>
                <a:gd name="T37" fmla="*/ 249 h 443"/>
                <a:gd name="T38" fmla="*/ 226 w 330"/>
                <a:gd name="T39" fmla="*/ 256 h 443"/>
                <a:gd name="T40" fmla="*/ 269 w 330"/>
                <a:gd name="T41" fmla="*/ 443 h 443"/>
                <a:gd name="T42" fmla="*/ 164 w 330"/>
                <a:gd name="T43" fmla="*/ 218 h 443"/>
                <a:gd name="T44" fmla="*/ 174 w 330"/>
                <a:gd name="T45" fmla="*/ 217 h 443"/>
                <a:gd name="T46" fmla="*/ 190 w 330"/>
                <a:gd name="T47" fmla="*/ 215 h 443"/>
                <a:gd name="T48" fmla="*/ 206 w 330"/>
                <a:gd name="T49" fmla="*/ 210 h 443"/>
                <a:gd name="T50" fmla="*/ 220 w 330"/>
                <a:gd name="T51" fmla="*/ 202 h 443"/>
                <a:gd name="T52" fmla="*/ 231 w 330"/>
                <a:gd name="T53" fmla="*/ 191 h 443"/>
                <a:gd name="T54" fmla="*/ 241 w 330"/>
                <a:gd name="T55" fmla="*/ 179 h 443"/>
                <a:gd name="T56" fmla="*/ 248 w 330"/>
                <a:gd name="T57" fmla="*/ 163 h 443"/>
                <a:gd name="T58" fmla="*/ 251 w 330"/>
                <a:gd name="T59" fmla="*/ 144 h 443"/>
                <a:gd name="T60" fmla="*/ 251 w 330"/>
                <a:gd name="T61" fmla="*/ 133 h 443"/>
                <a:gd name="T62" fmla="*/ 250 w 330"/>
                <a:gd name="T63" fmla="*/ 113 h 443"/>
                <a:gd name="T64" fmla="*/ 245 w 330"/>
                <a:gd name="T65" fmla="*/ 95 h 443"/>
                <a:gd name="T66" fmla="*/ 237 w 330"/>
                <a:gd name="T67" fmla="*/ 81 h 443"/>
                <a:gd name="T68" fmla="*/ 226 w 330"/>
                <a:gd name="T69" fmla="*/ 69 h 443"/>
                <a:gd name="T70" fmla="*/ 213 w 330"/>
                <a:gd name="T71" fmla="*/ 60 h 443"/>
                <a:gd name="T72" fmla="*/ 198 w 330"/>
                <a:gd name="T73" fmla="*/ 53 h 443"/>
                <a:gd name="T74" fmla="*/ 182 w 330"/>
                <a:gd name="T75" fmla="*/ 49 h 443"/>
                <a:gd name="T76" fmla="*/ 164 w 330"/>
                <a:gd name="T77" fmla="*/ 48 h 443"/>
                <a:gd name="T78" fmla="*/ 54 w 330"/>
                <a:gd name="T79" fmla="*/ 218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30" h="443">
                  <a:moveTo>
                    <a:pt x="170" y="266"/>
                  </a:moveTo>
                  <a:lnTo>
                    <a:pt x="55" y="266"/>
                  </a:lnTo>
                  <a:lnTo>
                    <a:pt x="55" y="443"/>
                  </a:lnTo>
                  <a:lnTo>
                    <a:pt x="0" y="443"/>
                  </a:lnTo>
                  <a:lnTo>
                    <a:pt x="0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86" y="1"/>
                  </a:lnTo>
                  <a:lnTo>
                    <a:pt x="199" y="3"/>
                  </a:lnTo>
                  <a:lnTo>
                    <a:pt x="212" y="5"/>
                  </a:lnTo>
                  <a:lnTo>
                    <a:pt x="225" y="9"/>
                  </a:lnTo>
                  <a:lnTo>
                    <a:pt x="237" y="13"/>
                  </a:lnTo>
                  <a:lnTo>
                    <a:pt x="248" y="20"/>
                  </a:lnTo>
                  <a:lnTo>
                    <a:pt x="258" y="26"/>
                  </a:lnTo>
                  <a:lnTo>
                    <a:pt x="268" y="33"/>
                  </a:lnTo>
                  <a:lnTo>
                    <a:pt x="277" y="43"/>
                  </a:lnTo>
                  <a:lnTo>
                    <a:pt x="284" y="52"/>
                  </a:lnTo>
                  <a:lnTo>
                    <a:pt x="291" y="63"/>
                  </a:lnTo>
                  <a:lnTo>
                    <a:pt x="297" y="75"/>
                  </a:lnTo>
                  <a:lnTo>
                    <a:pt x="301" y="89"/>
                  </a:lnTo>
                  <a:lnTo>
                    <a:pt x="304" y="102"/>
                  </a:lnTo>
                  <a:lnTo>
                    <a:pt x="306" y="117"/>
                  </a:lnTo>
                  <a:lnTo>
                    <a:pt x="307" y="133"/>
                  </a:lnTo>
                  <a:lnTo>
                    <a:pt x="307" y="133"/>
                  </a:lnTo>
                  <a:lnTo>
                    <a:pt x="306" y="145"/>
                  </a:lnTo>
                  <a:lnTo>
                    <a:pt x="305" y="156"/>
                  </a:lnTo>
                  <a:lnTo>
                    <a:pt x="304" y="167"/>
                  </a:lnTo>
                  <a:lnTo>
                    <a:pt x="301" y="178"/>
                  </a:lnTo>
                  <a:lnTo>
                    <a:pt x="298" y="187"/>
                  </a:lnTo>
                  <a:lnTo>
                    <a:pt x="295" y="196"/>
                  </a:lnTo>
                  <a:lnTo>
                    <a:pt x="289" y="205"/>
                  </a:lnTo>
                  <a:lnTo>
                    <a:pt x="285" y="213"/>
                  </a:lnTo>
                  <a:lnTo>
                    <a:pt x="279" y="220"/>
                  </a:lnTo>
                  <a:lnTo>
                    <a:pt x="274" y="228"/>
                  </a:lnTo>
                  <a:lnTo>
                    <a:pt x="266" y="234"/>
                  </a:lnTo>
                  <a:lnTo>
                    <a:pt x="260" y="239"/>
                  </a:lnTo>
                  <a:lnTo>
                    <a:pt x="251" y="245"/>
                  </a:lnTo>
                  <a:lnTo>
                    <a:pt x="244" y="249"/>
                  </a:lnTo>
                  <a:lnTo>
                    <a:pt x="235" y="253"/>
                  </a:lnTo>
                  <a:lnTo>
                    <a:pt x="226" y="256"/>
                  </a:lnTo>
                  <a:lnTo>
                    <a:pt x="330" y="443"/>
                  </a:lnTo>
                  <a:lnTo>
                    <a:pt x="269" y="443"/>
                  </a:lnTo>
                  <a:lnTo>
                    <a:pt x="170" y="266"/>
                  </a:lnTo>
                  <a:close/>
                  <a:moveTo>
                    <a:pt x="164" y="218"/>
                  </a:moveTo>
                  <a:lnTo>
                    <a:pt x="164" y="218"/>
                  </a:lnTo>
                  <a:lnTo>
                    <a:pt x="174" y="217"/>
                  </a:lnTo>
                  <a:lnTo>
                    <a:pt x="182" y="216"/>
                  </a:lnTo>
                  <a:lnTo>
                    <a:pt x="190" y="215"/>
                  </a:lnTo>
                  <a:lnTo>
                    <a:pt x="198" y="213"/>
                  </a:lnTo>
                  <a:lnTo>
                    <a:pt x="206" y="210"/>
                  </a:lnTo>
                  <a:lnTo>
                    <a:pt x="213" y="206"/>
                  </a:lnTo>
                  <a:lnTo>
                    <a:pt x="220" y="202"/>
                  </a:lnTo>
                  <a:lnTo>
                    <a:pt x="226" y="197"/>
                  </a:lnTo>
                  <a:lnTo>
                    <a:pt x="231" y="191"/>
                  </a:lnTo>
                  <a:lnTo>
                    <a:pt x="237" y="185"/>
                  </a:lnTo>
                  <a:lnTo>
                    <a:pt x="241" y="179"/>
                  </a:lnTo>
                  <a:lnTo>
                    <a:pt x="245" y="170"/>
                  </a:lnTo>
                  <a:lnTo>
                    <a:pt x="248" y="163"/>
                  </a:lnTo>
                  <a:lnTo>
                    <a:pt x="250" y="153"/>
                  </a:lnTo>
                  <a:lnTo>
                    <a:pt x="251" y="144"/>
                  </a:lnTo>
                  <a:lnTo>
                    <a:pt x="251" y="133"/>
                  </a:lnTo>
                  <a:lnTo>
                    <a:pt x="251" y="133"/>
                  </a:lnTo>
                  <a:lnTo>
                    <a:pt x="251" y="122"/>
                  </a:lnTo>
                  <a:lnTo>
                    <a:pt x="250" y="113"/>
                  </a:lnTo>
                  <a:lnTo>
                    <a:pt x="248" y="103"/>
                  </a:lnTo>
                  <a:lnTo>
                    <a:pt x="245" y="95"/>
                  </a:lnTo>
                  <a:lnTo>
                    <a:pt x="241" y="87"/>
                  </a:lnTo>
                  <a:lnTo>
                    <a:pt x="237" y="81"/>
                  </a:lnTo>
                  <a:lnTo>
                    <a:pt x="231" y="75"/>
                  </a:lnTo>
                  <a:lnTo>
                    <a:pt x="226" y="69"/>
                  </a:lnTo>
                  <a:lnTo>
                    <a:pt x="220" y="64"/>
                  </a:lnTo>
                  <a:lnTo>
                    <a:pt x="213" y="60"/>
                  </a:lnTo>
                  <a:lnTo>
                    <a:pt x="206" y="57"/>
                  </a:lnTo>
                  <a:lnTo>
                    <a:pt x="198" y="53"/>
                  </a:lnTo>
                  <a:lnTo>
                    <a:pt x="190" y="51"/>
                  </a:lnTo>
                  <a:lnTo>
                    <a:pt x="182" y="49"/>
                  </a:lnTo>
                  <a:lnTo>
                    <a:pt x="174" y="49"/>
                  </a:lnTo>
                  <a:lnTo>
                    <a:pt x="164" y="48"/>
                  </a:lnTo>
                  <a:lnTo>
                    <a:pt x="54" y="48"/>
                  </a:lnTo>
                  <a:lnTo>
                    <a:pt x="54" y="218"/>
                  </a:lnTo>
                  <a:lnTo>
                    <a:pt x="164" y="2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Freeform 15"/>
            <p:cNvSpPr>
              <a:spLocks noEditPoints="1"/>
            </p:cNvSpPr>
            <p:nvPr/>
          </p:nvSpPr>
          <p:spPr bwMode="auto">
            <a:xfrm>
              <a:off x="1998" y="3365"/>
              <a:ext cx="138" cy="150"/>
            </a:xfrm>
            <a:custGeom>
              <a:avLst/>
              <a:gdLst>
                <a:gd name="T0" fmla="*/ 356 w 415"/>
                <a:gd name="T1" fmla="*/ 450 h 450"/>
                <a:gd name="T2" fmla="*/ 310 w 415"/>
                <a:gd name="T3" fmla="*/ 350 h 450"/>
                <a:gd name="T4" fmla="*/ 104 w 415"/>
                <a:gd name="T5" fmla="*/ 350 h 450"/>
                <a:gd name="T6" fmla="*/ 58 w 415"/>
                <a:gd name="T7" fmla="*/ 450 h 450"/>
                <a:gd name="T8" fmla="*/ 0 w 415"/>
                <a:gd name="T9" fmla="*/ 450 h 450"/>
                <a:gd name="T10" fmla="*/ 207 w 415"/>
                <a:gd name="T11" fmla="*/ 0 h 450"/>
                <a:gd name="T12" fmla="*/ 415 w 415"/>
                <a:gd name="T13" fmla="*/ 450 h 450"/>
                <a:gd name="T14" fmla="*/ 356 w 415"/>
                <a:gd name="T15" fmla="*/ 450 h 450"/>
                <a:gd name="T16" fmla="*/ 288 w 415"/>
                <a:gd name="T17" fmla="*/ 302 h 450"/>
                <a:gd name="T18" fmla="*/ 207 w 415"/>
                <a:gd name="T19" fmla="*/ 124 h 450"/>
                <a:gd name="T20" fmla="*/ 127 w 415"/>
                <a:gd name="T21" fmla="*/ 302 h 450"/>
                <a:gd name="T22" fmla="*/ 288 w 415"/>
                <a:gd name="T23" fmla="*/ 302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5" h="450">
                  <a:moveTo>
                    <a:pt x="356" y="450"/>
                  </a:moveTo>
                  <a:lnTo>
                    <a:pt x="310" y="350"/>
                  </a:lnTo>
                  <a:lnTo>
                    <a:pt x="104" y="350"/>
                  </a:lnTo>
                  <a:lnTo>
                    <a:pt x="58" y="450"/>
                  </a:lnTo>
                  <a:lnTo>
                    <a:pt x="0" y="450"/>
                  </a:lnTo>
                  <a:lnTo>
                    <a:pt x="207" y="0"/>
                  </a:lnTo>
                  <a:lnTo>
                    <a:pt x="415" y="450"/>
                  </a:lnTo>
                  <a:lnTo>
                    <a:pt x="356" y="450"/>
                  </a:lnTo>
                  <a:close/>
                  <a:moveTo>
                    <a:pt x="288" y="302"/>
                  </a:moveTo>
                  <a:lnTo>
                    <a:pt x="207" y="124"/>
                  </a:lnTo>
                  <a:lnTo>
                    <a:pt x="127" y="302"/>
                  </a:lnTo>
                  <a:lnTo>
                    <a:pt x="288" y="3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1716" y="3365"/>
              <a:ext cx="139" cy="150"/>
            </a:xfrm>
            <a:custGeom>
              <a:avLst/>
              <a:gdLst>
                <a:gd name="T0" fmla="*/ 208 w 417"/>
                <a:gd name="T1" fmla="*/ 124 h 450"/>
                <a:gd name="T2" fmla="*/ 357 w 417"/>
                <a:gd name="T3" fmla="*/ 450 h 450"/>
                <a:gd name="T4" fmla="*/ 417 w 417"/>
                <a:gd name="T5" fmla="*/ 450 h 450"/>
                <a:gd name="T6" fmla="*/ 208 w 417"/>
                <a:gd name="T7" fmla="*/ 0 h 450"/>
                <a:gd name="T8" fmla="*/ 0 w 417"/>
                <a:gd name="T9" fmla="*/ 450 h 450"/>
                <a:gd name="T10" fmla="*/ 59 w 417"/>
                <a:gd name="T11" fmla="*/ 450 h 450"/>
                <a:gd name="T12" fmla="*/ 208 w 417"/>
                <a:gd name="T13" fmla="*/ 124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7" h="450">
                  <a:moveTo>
                    <a:pt x="208" y="124"/>
                  </a:moveTo>
                  <a:lnTo>
                    <a:pt x="357" y="450"/>
                  </a:lnTo>
                  <a:lnTo>
                    <a:pt x="417" y="450"/>
                  </a:lnTo>
                  <a:lnTo>
                    <a:pt x="208" y="0"/>
                  </a:lnTo>
                  <a:lnTo>
                    <a:pt x="0" y="450"/>
                  </a:lnTo>
                  <a:lnTo>
                    <a:pt x="59" y="450"/>
                  </a:lnTo>
                  <a:lnTo>
                    <a:pt x="208" y="1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946EC6-E819-0AB5-15F0-6478E71FA89F}"/>
              </a:ext>
            </a:extLst>
          </p:cNvPr>
          <p:cNvSpPr txBox="1">
            <a:spLocks/>
          </p:cNvSpPr>
          <p:nvPr/>
        </p:nvSpPr>
        <p:spPr>
          <a:xfrm>
            <a:off x="8976235" y="5845821"/>
            <a:ext cx="3104006" cy="8829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5072"/>
              </a:buClr>
              <a:buFont typeface="Arial" pitchFamily="34" charset="0"/>
              <a:buChar char="•"/>
              <a:defRPr sz="1800" kern="120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1600" b="1">
                <a:solidFill>
                  <a:srgbClr val="2B5F9D"/>
                </a:solidFill>
                <a:latin typeface="Aptos Display" panose="020B0004020202020204" pitchFamily="34" charset="0"/>
              </a:rPr>
              <a:t>Mike Stacy</a:t>
            </a:r>
          </a:p>
          <a:p>
            <a:pPr marL="0" indent="0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en-US" sz="1600">
                <a:solidFill>
                  <a:srgbClr val="2B5F9D"/>
                </a:solidFill>
                <a:latin typeface="Aptos Display" panose="020B0004020202020204" pitchFamily="34" charset="0"/>
              </a:rPr>
              <a:t>President - Global Enterprise</a:t>
            </a:r>
          </a:p>
          <a:p>
            <a:pPr marL="0" indent="0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en-US" sz="1000">
                <a:solidFill>
                  <a:srgbClr val="2B5F9D"/>
                </a:solidFill>
                <a:latin typeface="Aptos Display" panose="020B0004020202020204" pitchFamily="34" charset="0"/>
                <a:cs typeface="Segoe UI Semibold" panose="020B0402040204020203" pitchFamily="34" charset="0"/>
              </a:rPr>
              <a:t>April 2026</a:t>
            </a:r>
            <a:endParaRPr lang="en-US" sz="1600">
              <a:solidFill>
                <a:srgbClr val="2B5F9D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979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DE96DDF0-D968-057E-07E2-0D7A6B7A23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065886"/>
              </p:ext>
            </p:extLst>
          </p:nvPr>
        </p:nvGraphicFramePr>
        <p:xfrm>
          <a:off x="106008" y="863704"/>
          <a:ext cx="5654712" cy="23812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073DF389-503A-E17F-9C65-D077B459EF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6673398"/>
              </p:ext>
            </p:extLst>
          </p:nvPr>
        </p:nvGraphicFramePr>
        <p:xfrm>
          <a:off x="5963920" y="863704"/>
          <a:ext cx="5953760" cy="23812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itle 11">
            <a:extLst>
              <a:ext uri="{FF2B5EF4-FFF2-40B4-BE49-F238E27FC236}">
                <a16:creationId xmlns:a16="http://schemas.microsoft.com/office/drawing/2014/main" id="{708FFF8F-9A77-CA5A-7267-9AA5A3D61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ENT Financial Overview: (FY’22 – FY’27)</a:t>
            </a:r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B90EA8-4456-A0B1-021E-5932F56AB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515898"/>
              </p:ext>
            </p:extLst>
          </p:nvPr>
        </p:nvGraphicFramePr>
        <p:xfrm>
          <a:off x="7616643" y="4181332"/>
          <a:ext cx="4112305" cy="741680"/>
        </p:xfrm>
        <a:graphic>
          <a:graphicData uri="http://schemas.openxmlformats.org/drawingml/2006/table">
            <a:tbl>
              <a:tblPr/>
              <a:tblGrid>
                <a:gridCol w="2458443">
                  <a:extLst>
                    <a:ext uri="{9D8B030D-6E8A-4147-A177-3AD203B41FA5}">
                      <a16:colId xmlns:a16="http://schemas.microsoft.com/office/drawing/2014/main" val="3457892604"/>
                    </a:ext>
                  </a:extLst>
                </a:gridCol>
                <a:gridCol w="1653862">
                  <a:extLst>
                    <a:ext uri="{9D8B030D-6E8A-4147-A177-3AD203B41FA5}">
                      <a16:colId xmlns:a16="http://schemas.microsoft.com/office/drawing/2014/main" val="2856691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1" u="none" strike="noStrike" kern="1200">
                          <a:solidFill>
                            <a:schemeClr val="lt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Revenue Won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F9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 kern="1200">
                          <a:solidFill>
                            <a:schemeClr val="lt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FY'26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F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246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Total Won</a:t>
                      </a:r>
                    </a:p>
                  </a:txBody>
                  <a:tcPr marT="0" marB="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$14,941,656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23948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77E375-38FF-6ACA-881B-46229CED1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392167"/>
              </p:ext>
            </p:extLst>
          </p:nvPr>
        </p:nvGraphicFramePr>
        <p:xfrm>
          <a:off x="7616644" y="5014452"/>
          <a:ext cx="4112304" cy="732484"/>
        </p:xfrm>
        <a:graphic>
          <a:graphicData uri="http://schemas.openxmlformats.org/drawingml/2006/table">
            <a:tbl>
              <a:tblPr/>
              <a:tblGrid>
                <a:gridCol w="2458442">
                  <a:extLst>
                    <a:ext uri="{9D8B030D-6E8A-4147-A177-3AD203B41FA5}">
                      <a16:colId xmlns:a16="http://schemas.microsoft.com/office/drawing/2014/main" val="601028285"/>
                    </a:ext>
                  </a:extLst>
                </a:gridCol>
                <a:gridCol w="1653862">
                  <a:extLst>
                    <a:ext uri="{9D8B030D-6E8A-4147-A177-3AD203B41FA5}">
                      <a16:colId xmlns:a16="http://schemas.microsoft.com/office/drawing/2014/main" val="3468018693"/>
                    </a:ext>
                  </a:extLst>
                </a:gridCol>
              </a:tblGrid>
              <a:tr h="366242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1" u="none" strike="noStrike" kern="1200">
                          <a:solidFill>
                            <a:schemeClr val="lt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Avg. Deal Size Won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F9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 kern="1200">
                          <a:solidFill>
                            <a:schemeClr val="lt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FY'26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F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095667"/>
                  </a:ext>
                </a:extLst>
              </a:tr>
              <a:tr h="366242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Total Won</a:t>
                      </a:r>
                    </a:p>
                  </a:txBody>
                  <a:tcPr marT="0" marB="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$65,247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873609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98D3035-3723-548E-BD5D-D6EDA89407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552622"/>
              </p:ext>
            </p:extLst>
          </p:nvPr>
        </p:nvGraphicFramePr>
        <p:xfrm>
          <a:off x="106008" y="3613068"/>
          <a:ext cx="7358022" cy="26396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203001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44E7A-1075-D826-79F7-8DCD25158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Confirmed Revenue Comparison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24D817-A822-56D0-AC30-B063C165B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640909"/>
              </p:ext>
            </p:extLst>
          </p:nvPr>
        </p:nvGraphicFramePr>
        <p:xfrm>
          <a:off x="1844223" y="1418704"/>
          <a:ext cx="8503555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1747">
                  <a:extLst>
                    <a:ext uri="{9D8B030D-6E8A-4147-A177-3AD203B41FA5}">
                      <a16:colId xmlns:a16="http://schemas.microsoft.com/office/drawing/2014/main" val="1594745782"/>
                    </a:ext>
                  </a:extLst>
                </a:gridCol>
                <a:gridCol w="1592952">
                  <a:extLst>
                    <a:ext uri="{9D8B030D-6E8A-4147-A177-3AD203B41FA5}">
                      <a16:colId xmlns:a16="http://schemas.microsoft.com/office/drawing/2014/main" val="1299048798"/>
                    </a:ext>
                  </a:extLst>
                </a:gridCol>
                <a:gridCol w="1592952">
                  <a:extLst>
                    <a:ext uri="{9D8B030D-6E8A-4147-A177-3AD203B41FA5}">
                      <a16:colId xmlns:a16="http://schemas.microsoft.com/office/drawing/2014/main" val="2181761546"/>
                    </a:ext>
                  </a:extLst>
                </a:gridCol>
                <a:gridCol w="1592952">
                  <a:extLst>
                    <a:ext uri="{9D8B030D-6E8A-4147-A177-3AD203B41FA5}">
                      <a16:colId xmlns:a16="http://schemas.microsoft.com/office/drawing/2014/main" val="83468611"/>
                    </a:ext>
                  </a:extLst>
                </a:gridCol>
                <a:gridCol w="1592952">
                  <a:extLst>
                    <a:ext uri="{9D8B030D-6E8A-4147-A177-3AD203B41FA5}">
                      <a16:colId xmlns:a16="http://schemas.microsoft.com/office/drawing/2014/main" val="121935944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1" u="none" strike="noStrike" kern="1200">
                          <a:solidFill>
                            <a:schemeClr val="lt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ENT</a:t>
                      </a:r>
                    </a:p>
                  </a:txBody>
                  <a:tcPr anchor="b">
                    <a:solidFill>
                      <a:srgbClr val="2B5F9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1" u="none" strike="noStrike" kern="1200">
                          <a:solidFill>
                            <a:schemeClr val="lt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FY'24</a:t>
                      </a:r>
                    </a:p>
                  </a:txBody>
                  <a:tcPr anchor="b">
                    <a:solidFill>
                      <a:srgbClr val="2B5F9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1" u="none" strike="noStrike" kern="1200">
                          <a:solidFill>
                            <a:schemeClr val="lt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FY'25</a:t>
                      </a:r>
                    </a:p>
                  </a:txBody>
                  <a:tcPr anchor="b">
                    <a:solidFill>
                      <a:srgbClr val="2B5F9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1" u="none" strike="noStrike" kern="1200">
                          <a:solidFill>
                            <a:schemeClr val="lt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FY'26</a:t>
                      </a:r>
                    </a:p>
                  </a:txBody>
                  <a:tcPr anchor="b">
                    <a:solidFill>
                      <a:srgbClr val="2B5F9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1" u="none" strike="noStrike" kern="1200">
                          <a:solidFill>
                            <a:schemeClr val="lt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FY'27</a:t>
                      </a:r>
                    </a:p>
                  </a:txBody>
                  <a:tcPr anchor="b">
                    <a:solidFill>
                      <a:srgbClr val="2B5F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8634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Confirmed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$2,249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$6,765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$7,537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$5,575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2075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Projected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$-  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$-  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$-  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$-  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7300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Sales Goal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$15,250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$10,819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$11,302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$12,332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6708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Open-Existing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$109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$376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$134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$170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9236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Open-New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$92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$290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$126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$323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0099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IN" sz="1600" b="1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Total (Budget)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b="1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$17,700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b="1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$18,250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b="1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$19,100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b="1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$18,400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6340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endParaRPr lang="en-IN" sz="1600" u="none" strike="noStrike" kern="120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endParaRPr lang="en-IN" sz="1600" u="none" strike="noStrike" kern="120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endParaRPr lang="en-IN" sz="1600" u="none" strike="noStrike" kern="120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endParaRPr lang="en-IN" sz="1600" u="none" strike="noStrike" kern="120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endParaRPr lang="en-IN" sz="1600" u="none" strike="noStrike" kern="120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6769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Confirmed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$4,516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$772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$(1,963)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101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Confirmed %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201%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11%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-26%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2994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Sales Goals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$(3,966)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$78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$1,263 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0671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Sales Goals %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-26%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1%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11%</a:t>
                      </a:r>
                    </a:p>
                  </a:txBody>
                  <a:tcPr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38178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CCF7ECC-53DE-9DA5-FB10-63CCA3940ACC}"/>
              </a:ext>
            </a:extLst>
          </p:cNvPr>
          <p:cNvSpPr txBox="1"/>
          <p:nvPr/>
        </p:nvSpPr>
        <p:spPr>
          <a:xfrm>
            <a:off x="7574098" y="1138937"/>
            <a:ext cx="27736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fontAlgn="b"/>
            <a:r>
              <a:rPr lang="en-IN" sz="1200" b="1">
                <a:solidFill>
                  <a:schemeClr val="dk1"/>
                </a:solidFill>
                <a:latin typeface="+mj-lt"/>
              </a:rPr>
              <a:t>Amounts in ’000</a:t>
            </a:r>
          </a:p>
        </p:txBody>
      </p:sp>
    </p:spTree>
    <p:extLst>
      <p:ext uri="{BB962C8B-B14F-4D97-AF65-F5344CB8AC3E}">
        <p14:creationId xmlns:p14="http://schemas.microsoft.com/office/powerpoint/2010/main" val="2177668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FAFEF1D-B6A0-F4EC-3D76-05A7776C3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ENT – Top Client Trend Analysis (FY’21–FY’26)</a:t>
            </a:r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AD8AE5-5CD3-6B98-3CC2-FF9BB42F713C}"/>
              </a:ext>
            </a:extLst>
          </p:cNvPr>
          <p:cNvSpPr txBox="1"/>
          <p:nvPr/>
        </p:nvSpPr>
        <p:spPr>
          <a:xfrm>
            <a:off x="9230360" y="575882"/>
            <a:ext cx="27736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fontAlgn="b"/>
            <a:r>
              <a:rPr lang="en-IN" sz="1200" b="1">
                <a:solidFill>
                  <a:schemeClr val="dk1"/>
                </a:solidFill>
                <a:latin typeface="+mj-lt"/>
              </a:rPr>
              <a:t>Amounts in ’000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2F960D-9B2D-5A61-B1D9-0E2248DD7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450352"/>
              </p:ext>
            </p:extLst>
          </p:nvPr>
        </p:nvGraphicFramePr>
        <p:xfrm>
          <a:off x="195362" y="881252"/>
          <a:ext cx="11801276" cy="55601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9250">
                  <a:extLst>
                    <a:ext uri="{9D8B030D-6E8A-4147-A177-3AD203B41FA5}">
                      <a16:colId xmlns:a16="http://schemas.microsoft.com/office/drawing/2014/main" val="2663836803"/>
                    </a:ext>
                  </a:extLst>
                </a:gridCol>
                <a:gridCol w="482232">
                  <a:extLst>
                    <a:ext uri="{9D8B030D-6E8A-4147-A177-3AD203B41FA5}">
                      <a16:colId xmlns:a16="http://schemas.microsoft.com/office/drawing/2014/main" val="55264896"/>
                    </a:ext>
                  </a:extLst>
                </a:gridCol>
                <a:gridCol w="1031439">
                  <a:extLst>
                    <a:ext uri="{9D8B030D-6E8A-4147-A177-3AD203B41FA5}">
                      <a16:colId xmlns:a16="http://schemas.microsoft.com/office/drawing/2014/main" val="725475383"/>
                    </a:ext>
                  </a:extLst>
                </a:gridCol>
                <a:gridCol w="482232">
                  <a:extLst>
                    <a:ext uri="{9D8B030D-6E8A-4147-A177-3AD203B41FA5}">
                      <a16:colId xmlns:a16="http://schemas.microsoft.com/office/drawing/2014/main" val="3529975116"/>
                    </a:ext>
                  </a:extLst>
                </a:gridCol>
                <a:gridCol w="1031439">
                  <a:extLst>
                    <a:ext uri="{9D8B030D-6E8A-4147-A177-3AD203B41FA5}">
                      <a16:colId xmlns:a16="http://schemas.microsoft.com/office/drawing/2014/main" val="599541350"/>
                    </a:ext>
                  </a:extLst>
                </a:gridCol>
                <a:gridCol w="482232">
                  <a:extLst>
                    <a:ext uri="{9D8B030D-6E8A-4147-A177-3AD203B41FA5}">
                      <a16:colId xmlns:a16="http://schemas.microsoft.com/office/drawing/2014/main" val="59689694"/>
                    </a:ext>
                  </a:extLst>
                </a:gridCol>
                <a:gridCol w="1031439">
                  <a:extLst>
                    <a:ext uri="{9D8B030D-6E8A-4147-A177-3AD203B41FA5}">
                      <a16:colId xmlns:a16="http://schemas.microsoft.com/office/drawing/2014/main" val="1821273516"/>
                    </a:ext>
                  </a:extLst>
                </a:gridCol>
                <a:gridCol w="482232">
                  <a:extLst>
                    <a:ext uri="{9D8B030D-6E8A-4147-A177-3AD203B41FA5}">
                      <a16:colId xmlns:a16="http://schemas.microsoft.com/office/drawing/2014/main" val="2437923484"/>
                    </a:ext>
                  </a:extLst>
                </a:gridCol>
                <a:gridCol w="1031439">
                  <a:extLst>
                    <a:ext uri="{9D8B030D-6E8A-4147-A177-3AD203B41FA5}">
                      <a16:colId xmlns:a16="http://schemas.microsoft.com/office/drawing/2014/main" val="2698054959"/>
                    </a:ext>
                  </a:extLst>
                </a:gridCol>
                <a:gridCol w="482232">
                  <a:extLst>
                    <a:ext uri="{9D8B030D-6E8A-4147-A177-3AD203B41FA5}">
                      <a16:colId xmlns:a16="http://schemas.microsoft.com/office/drawing/2014/main" val="1913487792"/>
                    </a:ext>
                  </a:extLst>
                </a:gridCol>
                <a:gridCol w="1031439">
                  <a:extLst>
                    <a:ext uri="{9D8B030D-6E8A-4147-A177-3AD203B41FA5}">
                      <a16:colId xmlns:a16="http://schemas.microsoft.com/office/drawing/2014/main" val="1656105727"/>
                    </a:ext>
                  </a:extLst>
                </a:gridCol>
                <a:gridCol w="482232">
                  <a:extLst>
                    <a:ext uri="{9D8B030D-6E8A-4147-A177-3AD203B41FA5}">
                      <a16:colId xmlns:a16="http://schemas.microsoft.com/office/drawing/2014/main" val="3347874410"/>
                    </a:ext>
                  </a:extLst>
                </a:gridCol>
                <a:gridCol w="1031439">
                  <a:extLst>
                    <a:ext uri="{9D8B030D-6E8A-4147-A177-3AD203B41FA5}">
                      <a16:colId xmlns:a16="http://schemas.microsoft.com/office/drawing/2014/main" val="1919099932"/>
                    </a:ext>
                  </a:extLst>
                </a:gridCol>
              </a:tblGrid>
              <a:tr h="2481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Year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T="9525" marB="9144" anchor="b">
                    <a:solidFill>
                      <a:srgbClr val="2B5F9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FY'21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T="9525" marB="9144" anchor="b">
                    <a:solidFill>
                      <a:srgbClr val="2B5F9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FY'22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T="9525" marB="9144" anchor="b">
                    <a:solidFill>
                      <a:srgbClr val="2B5F9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FY'23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T="9525" marB="9144" anchor="b">
                    <a:solidFill>
                      <a:srgbClr val="2B5F9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FY'24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T="9525" marB="9144" anchor="b">
                    <a:solidFill>
                      <a:srgbClr val="2B5F9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FY'25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T="9525" marB="9144" anchor="b">
                    <a:solidFill>
                      <a:srgbClr val="2B5F9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FY'26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T="9525" marB="9144" anchor="b">
                    <a:solidFill>
                      <a:srgbClr val="2B5F9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456249"/>
                  </a:ext>
                </a:extLst>
              </a:tr>
              <a:tr h="4463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5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Client Name</a:t>
                      </a:r>
                      <a:endParaRPr lang="en-IN" sz="105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T="9525" marB="9144" anchor="b"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5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Rank</a:t>
                      </a:r>
                      <a:endParaRPr lang="en-IN" sz="105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T="9525" marB="9144" anchor="b"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5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Amounts ($)</a:t>
                      </a:r>
                      <a:endParaRPr lang="en-IN" sz="105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T="9525" marB="9144" anchor="b"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5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Rank</a:t>
                      </a:r>
                      <a:endParaRPr lang="en-IN" sz="105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T="9525" marB="9144" anchor="b"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5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Amounts ($)</a:t>
                      </a:r>
                      <a:endParaRPr lang="en-IN" sz="105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T="9525" marB="9144" anchor="b"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5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Rank</a:t>
                      </a:r>
                      <a:endParaRPr lang="en-IN" sz="105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T="9525" marB="9144" anchor="b"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5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Amounts ($)</a:t>
                      </a:r>
                      <a:endParaRPr lang="en-IN" sz="105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T="9525" marB="9144" anchor="b"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5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Rank</a:t>
                      </a:r>
                      <a:endParaRPr lang="en-IN" sz="105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T="9525" marB="9144" anchor="b"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5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Amounts ($)</a:t>
                      </a:r>
                      <a:endParaRPr lang="en-IN" sz="105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T="9525" marB="9144" anchor="b"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5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Rank</a:t>
                      </a:r>
                      <a:endParaRPr lang="en-IN" sz="105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T="9525" marB="9144" anchor="b"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5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Amounts ($)</a:t>
                      </a:r>
                      <a:endParaRPr lang="en-IN" sz="105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T="9525" marB="9144" anchor="b"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5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Rank</a:t>
                      </a:r>
                      <a:endParaRPr lang="en-IN" sz="105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T="9525" marB="9144" anchor="b"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5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Amounts ($)</a:t>
                      </a:r>
                      <a:endParaRPr lang="en-IN" sz="105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T="9525" marB="9144" anchor="b">
                    <a:solidFill>
                      <a:srgbClr val="46B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083212"/>
                  </a:ext>
                </a:extLst>
              </a:tr>
              <a:tr h="232511">
                <a:tc>
                  <a:txBody>
                    <a:bodyPr/>
                    <a:lstStyle/>
                    <a:p>
                      <a:pPr marL="63500" indent="0" algn="l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Ernst &amp; Young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863600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$4,080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$3,112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$1,301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$381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$335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$395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444688"/>
                  </a:ext>
                </a:extLst>
              </a:tr>
              <a:tr h="232511">
                <a:tc>
                  <a:txBody>
                    <a:bodyPr/>
                    <a:lstStyle/>
                    <a:p>
                      <a:pPr marL="63500" indent="0" algn="l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PricewaterhouseCoopers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$2,869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$1,185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$2,010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$316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$592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30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$60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761189"/>
                  </a:ext>
                </a:extLst>
              </a:tr>
              <a:tr h="232511">
                <a:tc>
                  <a:txBody>
                    <a:bodyPr/>
                    <a:lstStyle/>
                    <a:p>
                      <a:pPr marL="63500" indent="0" algn="l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KPMG LLP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$1,179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$929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$924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$525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$566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$373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968673"/>
                  </a:ext>
                </a:extLst>
              </a:tr>
              <a:tr h="232511">
                <a:tc>
                  <a:txBody>
                    <a:bodyPr/>
                    <a:lstStyle/>
                    <a:p>
                      <a:pPr marL="63500" indent="0" algn="l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Freddie Mac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$890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$830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$434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$370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44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$33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62405"/>
                  </a:ext>
                </a:extLst>
              </a:tr>
              <a:tr h="232511">
                <a:tc>
                  <a:txBody>
                    <a:bodyPr/>
                    <a:lstStyle/>
                    <a:p>
                      <a:pPr marL="63500" indent="0" algn="l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Walmart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$725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$274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$241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$1,038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$936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$666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42856"/>
                  </a:ext>
                </a:extLst>
              </a:tr>
              <a:tr h="232511">
                <a:tc>
                  <a:txBody>
                    <a:bodyPr/>
                    <a:lstStyle/>
                    <a:p>
                      <a:pPr marL="63500" indent="0"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j-lt"/>
                        </a:rPr>
                        <a:t>Blue Cross Blue Shield NC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$615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$612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$731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$808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$781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$782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516020"/>
                  </a:ext>
                </a:extLst>
              </a:tr>
              <a:tr h="232511">
                <a:tc>
                  <a:txBody>
                    <a:bodyPr/>
                    <a:lstStyle/>
                    <a:p>
                      <a:pPr marL="63500" indent="0" algn="l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Health Management Systems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$481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$397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31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$98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021042"/>
                  </a:ext>
                </a:extLst>
              </a:tr>
              <a:tr h="232511">
                <a:tc>
                  <a:txBody>
                    <a:bodyPr/>
                    <a:lstStyle/>
                    <a:p>
                      <a:pPr marL="63500" indent="0" algn="l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Dassault Systèmes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$411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$194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$272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35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$59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$124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25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$100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779522"/>
                  </a:ext>
                </a:extLst>
              </a:tr>
              <a:tr h="232511">
                <a:tc>
                  <a:txBody>
                    <a:bodyPr/>
                    <a:lstStyle/>
                    <a:p>
                      <a:pPr marL="63500" indent="0" algn="l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Vertex Professional Services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$380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$944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$969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$1,059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$698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$661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232209"/>
                  </a:ext>
                </a:extLst>
              </a:tr>
              <a:tr h="232511">
                <a:tc>
                  <a:txBody>
                    <a:bodyPr/>
                    <a:lstStyle/>
                    <a:p>
                      <a:pPr marL="63500" indent="0" algn="l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Red Hat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$304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$229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43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$49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38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$52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288515"/>
                  </a:ext>
                </a:extLst>
              </a:tr>
              <a:tr h="215524">
                <a:tc>
                  <a:txBody>
                    <a:bodyPr/>
                    <a:lstStyle/>
                    <a:p>
                      <a:pPr marL="63500" indent="0" algn="l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EMERITUS Institute of Management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$221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$719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$572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32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$67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81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206530"/>
                  </a:ext>
                </a:extLst>
              </a:tr>
              <a:tr h="232511">
                <a:tc>
                  <a:txBody>
                    <a:bodyPr/>
                    <a:lstStyle/>
                    <a:p>
                      <a:pPr marL="63500" indent="0" algn="l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AT&amp;T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$124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$4,457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$6,301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$5,452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983383"/>
                  </a:ext>
                </a:extLst>
              </a:tr>
              <a:tr h="232511">
                <a:tc>
                  <a:txBody>
                    <a:bodyPr/>
                    <a:lstStyle/>
                    <a:p>
                      <a:pPr marL="63500" indent="0" algn="l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WORKIVA INC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23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$106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$403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$850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$1,132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$819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$550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689576"/>
                  </a:ext>
                </a:extLst>
              </a:tr>
              <a:tr h="232511">
                <a:tc>
                  <a:txBody>
                    <a:bodyPr/>
                    <a:lstStyle/>
                    <a:p>
                      <a:pPr marL="63500" indent="0" algn="l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Intuit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30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$69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$972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3677838"/>
                  </a:ext>
                </a:extLst>
              </a:tr>
              <a:tr h="232511">
                <a:tc>
                  <a:txBody>
                    <a:bodyPr/>
                    <a:lstStyle/>
                    <a:p>
                      <a:pPr marL="63500" indent="0" algn="l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Honeywell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33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$55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$287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$486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$476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$573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$348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541689"/>
                  </a:ext>
                </a:extLst>
              </a:tr>
              <a:tr h="232511">
                <a:tc>
                  <a:txBody>
                    <a:bodyPr/>
                    <a:lstStyle/>
                    <a:p>
                      <a:pPr marL="63500" indent="0" algn="l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Uber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40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$45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$1,060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$643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$999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$310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$220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481287"/>
                  </a:ext>
                </a:extLst>
              </a:tr>
              <a:tr h="232511">
                <a:tc>
                  <a:txBody>
                    <a:bodyPr/>
                    <a:lstStyle/>
                    <a:p>
                      <a:pPr marL="63500" indent="0" algn="l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Pacific Gas &amp; Electric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48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$40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$622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$853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$1,159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$903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9692"/>
                  </a:ext>
                </a:extLst>
              </a:tr>
              <a:tr h="232511">
                <a:tc>
                  <a:txBody>
                    <a:bodyPr/>
                    <a:lstStyle/>
                    <a:p>
                      <a:pPr marL="63500" indent="0" algn="l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PMI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$480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$680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$2,100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523720"/>
                  </a:ext>
                </a:extLst>
              </a:tr>
              <a:tr h="232511">
                <a:tc>
                  <a:txBody>
                    <a:bodyPr/>
                    <a:lstStyle/>
                    <a:p>
                      <a:pPr marL="63500" indent="0" algn="l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Takeda Pharmaceuticals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$207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$598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$656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$759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069125"/>
                  </a:ext>
                </a:extLst>
              </a:tr>
              <a:tr h="232511">
                <a:tc>
                  <a:txBody>
                    <a:bodyPr/>
                    <a:lstStyle/>
                    <a:p>
                      <a:pPr marL="63500" indent="0"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j-lt"/>
                        </a:rPr>
                        <a:t>New York Life Insurance Company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28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$81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$595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$485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983279"/>
                  </a:ext>
                </a:extLst>
              </a:tr>
              <a:tr h="232511">
                <a:tc>
                  <a:txBody>
                    <a:bodyPr/>
                    <a:lstStyle/>
                    <a:p>
                      <a:pPr marL="63500" indent="0" algn="l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Mohela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10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$513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+mj-lt"/>
                        </a:rPr>
                        <a:t>$0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9525" marB="9144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171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4431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9267A-0AE0-A486-9712-16133152E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65311DD4-B42D-A327-E28A-385CE43F7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820160" y="782320"/>
            <a:ext cx="4551680" cy="5709069"/>
          </a:xfrm>
          <a:prstGeom prst="roundRect">
            <a:avLst>
              <a:gd name="adj" fmla="val 2323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63500" dist="127000" dir="2700000" algn="tl" rotWithShape="0">
              <a:srgbClr val="454142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33" name="Title 32">
            <a:extLst>
              <a:ext uri="{FF2B5EF4-FFF2-40B4-BE49-F238E27FC236}">
                <a16:creationId xmlns:a16="http://schemas.microsoft.com/office/drawing/2014/main" id="{72676035-EAE1-A694-AB42-DE46DDE7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Wins and New Clients Addition – Financial Year 2025 - 26</a:t>
            </a:r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40D8F1-00FB-F9FE-4D08-6D03F31F9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732377"/>
              </p:ext>
            </p:extLst>
          </p:nvPr>
        </p:nvGraphicFramePr>
        <p:xfrm>
          <a:off x="3876697" y="850065"/>
          <a:ext cx="4424023" cy="5586454"/>
        </p:xfrm>
        <a:graphic>
          <a:graphicData uri="http://schemas.openxmlformats.org/drawingml/2006/table">
            <a:tbl>
              <a:tblPr/>
              <a:tblGrid>
                <a:gridCol w="2723644">
                  <a:extLst>
                    <a:ext uri="{9D8B030D-6E8A-4147-A177-3AD203B41FA5}">
                      <a16:colId xmlns:a16="http://schemas.microsoft.com/office/drawing/2014/main" val="3046583412"/>
                    </a:ext>
                  </a:extLst>
                </a:gridCol>
                <a:gridCol w="1700379">
                  <a:extLst>
                    <a:ext uri="{9D8B030D-6E8A-4147-A177-3AD203B41FA5}">
                      <a16:colId xmlns:a16="http://schemas.microsoft.com/office/drawing/2014/main" val="2454614167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$376,868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60413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$167,000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4489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$113,400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71387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$66,000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61759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$38,900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39075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$12,600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78145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$6,000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02711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endParaRPr lang="en-US" sz="1600" b="0" i="0" u="none" strike="noStrike" kern="120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$0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332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endParaRPr lang="en-US" sz="1600" b="0" i="0" u="none" strike="noStrike" kern="120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$0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657328"/>
                  </a:ext>
                </a:extLst>
              </a:tr>
              <a:tr h="64869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i="0" u="none" strike="noStrike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2000" b="1" i="0" u="none" strike="noStrike" kern="120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$780,768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333684"/>
                  </a:ext>
                </a:extLst>
              </a:tr>
            </a:tbl>
          </a:graphicData>
        </a:graphic>
      </p:graphicFrame>
      <p:pic>
        <p:nvPicPr>
          <p:cNvPr id="3" name="Graphic 2">
            <a:extLst>
              <a:ext uri="{FF2B5EF4-FFF2-40B4-BE49-F238E27FC236}">
                <a16:creationId xmlns:a16="http://schemas.microsoft.com/office/drawing/2014/main" id="{A22DEA0A-331F-6598-4622-0051FE419B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50000"/>
          <a:stretch>
            <a:fillRect/>
          </a:stretch>
        </p:blipFill>
        <p:spPr>
          <a:xfrm>
            <a:off x="4556001" y="935413"/>
            <a:ext cx="1438637" cy="364872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B68D77C7-2E69-FDEA-75DA-7E5B3CB41B4F}"/>
              </a:ext>
            </a:extLst>
          </p:cNvPr>
          <p:cNvGrpSpPr/>
          <p:nvPr/>
        </p:nvGrpSpPr>
        <p:grpSpPr>
          <a:xfrm>
            <a:off x="4604894" y="1527204"/>
            <a:ext cx="1096127" cy="315253"/>
            <a:chOff x="1636680" y="2147601"/>
            <a:chExt cx="8915399" cy="2564129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3C525BA-AC0F-3A19-EE2D-24F9983F20E5}"/>
                </a:ext>
              </a:extLst>
            </p:cNvPr>
            <p:cNvSpPr/>
            <p:nvPr/>
          </p:nvSpPr>
          <p:spPr>
            <a:xfrm>
              <a:off x="1636680" y="2147601"/>
              <a:ext cx="8915399" cy="2564129"/>
            </a:xfrm>
            <a:custGeom>
              <a:avLst/>
              <a:gdLst>
                <a:gd name="csX0" fmla="*/ 0 w 8915399"/>
                <a:gd name="csY0" fmla="*/ 0 h 2564129"/>
                <a:gd name="csX1" fmla="*/ 8915400 w 8915399"/>
                <a:gd name="csY1" fmla="*/ 0 h 2564129"/>
                <a:gd name="csX2" fmla="*/ 8915400 w 8915399"/>
                <a:gd name="csY2" fmla="*/ 2564130 h 2564129"/>
                <a:gd name="csX3" fmla="*/ 0 w 8915399"/>
                <a:gd name="csY3" fmla="*/ 2564130 h 25641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915399" h="2564129">
                  <a:moveTo>
                    <a:pt x="0" y="0"/>
                  </a:moveTo>
                  <a:lnTo>
                    <a:pt x="8915400" y="0"/>
                  </a:lnTo>
                  <a:lnTo>
                    <a:pt x="8915400" y="2564130"/>
                  </a:lnTo>
                  <a:lnTo>
                    <a:pt x="0" y="2564130"/>
                  </a:lnTo>
                  <a:close/>
                </a:path>
              </a:pathLst>
            </a:custGeom>
            <a:solidFill>
              <a:srgbClr val="DB0032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C53D5D6-61CD-00A3-14F6-5DF429B5602C}"/>
                </a:ext>
              </a:extLst>
            </p:cNvPr>
            <p:cNvSpPr/>
            <p:nvPr/>
          </p:nvSpPr>
          <p:spPr>
            <a:xfrm>
              <a:off x="4252102" y="2625025"/>
              <a:ext cx="983833" cy="1609274"/>
            </a:xfrm>
            <a:custGeom>
              <a:avLst/>
              <a:gdLst>
                <a:gd name="csX0" fmla="*/ 938355 w 983833"/>
                <a:gd name="csY0" fmla="*/ 667005 h 1609274"/>
                <a:gd name="csX1" fmla="*/ 981313 w 983833"/>
                <a:gd name="csY1" fmla="*/ 356109 h 1609274"/>
                <a:gd name="csX2" fmla="*/ 575643 w 983833"/>
                <a:gd name="csY2" fmla="*/ 255 h 1609274"/>
                <a:gd name="csX3" fmla="*/ 149399 w 983833"/>
                <a:gd name="csY3" fmla="*/ 324296 h 1609274"/>
                <a:gd name="csX4" fmla="*/ 3572 w 983833"/>
                <a:gd name="csY4" fmla="*/ 1228885 h 1609274"/>
                <a:gd name="csX5" fmla="*/ 396192 w 983833"/>
                <a:gd name="csY5" fmla="*/ 1609123 h 1609274"/>
                <a:gd name="csX6" fmla="*/ 816816 w 983833"/>
                <a:gd name="csY6" fmla="*/ 1350615 h 1609274"/>
                <a:gd name="csX7" fmla="*/ 878538 w 983833"/>
                <a:gd name="csY7" fmla="*/ 974186 h 1609274"/>
                <a:gd name="csX8" fmla="*/ 543925 w 983833"/>
                <a:gd name="csY8" fmla="*/ 974186 h 1609274"/>
                <a:gd name="csX9" fmla="*/ 489728 w 983833"/>
                <a:gd name="csY9" fmla="*/ 1206406 h 1609274"/>
                <a:gd name="csX10" fmla="*/ 414957 w 983833"/>
                <a:gd name="csY10" fmla="*/ 1251364 h 1609274"/>
                <a:gd name="csX11" fmla="*/ 351425 w 983833"/>
                <a:gd name="csY11" fmla="*/ 1195166 h 1609274"/>
                <a:gd name="csX12" fmla="*/ 471059 w 983833"/>
                <a:gd name="csY12" fmla="*/ 408497 h 1609274"/>
                <a:gd name="csX13" fmla="*/ 560784 w 983833"/>
                <a:gd name="csY13" fmla="*/ 344870 h 1609274"/>
                <a:gd name="csX14" fmla="*/ 622506 w 983833"/>
                <a:gd name="csY14" fmla="*/ 399162 h 1609274"/>
                <a:gd name="csX15" fmla="*/ 592598 w 983833"/>
                <a:gd name="csY15" fmla="*/ 667005 h 1609274"/>
                <a:gd name="csX16" fmla="*/ 938355 w 983833"/>
                <a:gd name="csY16" fmla="*/ 667005 h 1609274"/>
                <a:gd name="csX17" fmla="*/ 938355 w 983833"/>
                <a:gd name="csY17" fmla="*/ 667005 h 16092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983833" h="1609274">
                  <a:moveTo>
                    <a:pt x="938355" y="667005"/>
                  </a:moveTo>
                  <a:lnTo>
                    <a:pt x="981313" y="356109"/>
                  </a:lnTo>
                  <a:cubicBezTo>
                    <a:pt x="1010173" y="147607"/>
                    <a:pt x="785955" y="6923"/>
                    <a:pt x="575643" y="255"/>
                  </a:cubicBezTo>
                  <a:cubicBezTo>
                    <a:pt x="366950" y="-6412"/>
                    <a:pt x="182642" y="118079"/>
                    <a:pt x="149399" y="324296"/>
                  </a:cubicBezTo>
                  <a:lnTo>
                    <a:pt x="3572" y="1228885"/>
                  </a:lnTo>
                  <a:cubicBezTo>
                    <a:pt x="-30337" y="1439292"/>
                    <a:pt x="183023" y="1603503"/>
                    <a:pt x="396192" y="1609123"/>
                  </a:cubicBezTo>
                  <a:cubicBezTo>
                    <a:pt x="588597" y="1614171"/>
                    <a:pt x="793575" y="1492251"/>
                    <a:pt x="816816" y="1350615"/>
                  </a:cubicBezTo>
                  <a:lnTo>
                    <a:pt x="878538" y="974186"/>
                  </a:lnTo>
                  <a:lnTo>
                    <a:pt x="543925" y="974186"/>
                  </a:lnTo>
                  <a:lnTo>
                    <a:pt x="489728" y="1206406"/>
                  </a:lnTo>
                  <a:cubicBezTo>
                    <a:pt x="482012" y="1239553"/>
                    <a:pt x="448770" y="1254793"/>
                    <a:pt x="414957" y="1251364"/>
                  </a:cubicBezTo>
                  <a:cubicBezTo>
                    <a:pt x="382000" y="1248030"/>
                    <a:pt x="346376" y="1227932"/>
                    <a:pt x="351425" y="1195166"/>
                  </a:cubicBezTo>
                  <a:lnTo>
                    <a:pt x="471059" y="408497"/>
                  </a:lnTo>
                  <a:cubicBezTo>
                    <a:pt x="477536" y="366110"/>
                    <a:pt x="518493" y="337726"/>
                    <a:pt x="560784" y="344870"/>
                  </a:cubicBezTo>
                  <a:cubicBezTo>
                    <a:pt x="592407" y="350204"/>
                    <a:pt x="626031" y="367349"/>
                    <a:pt x="622506" y="399162"/>
                  </a:cubicBezTo>
                  <a:lnTo>
                    <a:pt x="592598" y="667005"/>
                  </a:lnTo>
                  <a:lnTo>
                    <a:pt x="938355" y="667005"/>
                  </a:lnTo>
                  <a:lnTo>
                    <a:pt x="938355" y="66700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019CC23-37D2-FFA8-01E7-15B7D41806A6}"/>
                </a:ext>
              </a:extLst>
            </p:cNvPr>
            <p:cNvSpPr/>
            <p:nvPr/>
          </p:nvSpPr>
          <p:spPr>
            <a:xfrm>
              <a:off x="7886890" y="2649664"/>
              <a:ext cx="1063942" cy="1560099"/>
            </a:xfrm>
            <a:custGeom>
              <a:avLst/>
              <a:gdLst>
                <a:gd name="csX0" fmla="*/ 261747 w 1063942"/>
                <a:gd name="csY0" fmla="*/ 0 h 1560099"/>
                <a:gd name="csX1" fmla="*/ 564832 w 1063942"/>
                <a:gd name="csY1" fmla="*/ 0 h 1560099"/>
                <a:gd name="csX2" fmla="*/ 462343 w 1063942"/>
                <a:gd name="csY2" fmla="*/ 633984 h 1560099"/>
                <a:gd name="csX3" fmla="*/ 641318 w 1063942"/>
                <a:gd name="csY3" fmla="*/ 633984 h 1560099"/>
                <a:gd name="csX4" fmla="*/ 756952 w 1063942"/>
                <a:gd name="csY4" fmla="*/ 3715 h 1560099"/>
                <a:gd name="csX5" fmla="*/ 1063942 w 1063942"/>
                <a:gd name="csY5" fmla="*/ 3715 h 1560099"/>
                <a:gd name="csX6" fmla="*/ 811149 w 1063942"/>
                <a:gd name="csY6" fmla="*/ 1560100 h 1560099"/>
                <a:gd name="csX7" fmla="*/ 504539 w 1063942"/>
                <a:gd name="csY7" fmla="*/ 1560100 h 1560099"/>
                <a:gd name="csX8" fmla="*/ 586835 w 1063942"/>
                <a:gd name="csY8" fmla="*/ 953262 h 1560099"/>
                <a:gd name="csX9" fmla="*/ 411575 w 1063942"/>
                <a:gd name="csY9" fmla="*/ 953262 h 1560099"/>
                <a:gd name="csX10" fmla="*/ 306800 w 1063942"/>
                <a:gd name="csY10" fmla="*/ 1560100 h 1560099"/>
                <a:gd name="csX11" fmla="*/ 0 w 1063942"/>
                <a:gd name="csY11" fmla="*/ 1560100 h 1560099"/>
                <a:gd name="csX12" fmla="*/ 261747 w 1063942"/>
                <a:gd name="csY12" fmla="*/ 0 h 15600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063942" h="1560099">
                  <a:moveTo>
                    <a:pt x="261747" y="0"/>
                  </a:moveTo>
                  <a:lnTo>
                    <a:pt x="564832" y="0"/>
                  </a:lnTo>
                  <a:lnTo>
                    <a:pt x="462343" y="633984"/>
                  </a:lnTo>
                  <a:lnTo>
                    <a:pt x="641318" y="633984"/>
                  </a:lnTo>
                  <a:lnTo>
                    <a:pt x="756952" y="3715"/>
                  </a:lnTo>
                  <a:lnTo>
                    <a:pt x="1063942" y="3715"/>
                  </a:lnTo>
                  <a:lnTo>
                    <a:pt x="811149" y="1560100"/>
                  </a:lnTo>
                  <a:lnTo>
                    <a:pt x="504539" y="1560100"/>
                  </a:lnTo>
                  <a:lnTo>
                    <a:pt x="586835" y="953262"/>
                  </a:lnTo>
                  <a:lnTo>
                    <a:pt x="411575" y="953262"/>
                  </a:lnTo>
                  <a:lnTo>
                    <a:pt x="306800" y="1560100"/>
                  </a:lnTo>
                  <a:lnTo>
                    <a:pt x="0" y="1560100"/>
                  </a:lnTo>
                  <a:lnTo>
                    <a:pt x="26174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6798F59-E813-E3BB-B487-734DB332A2F8}"/>
                </a:ext>
              </a:extLst>
            </p:cNvPr>
            <p:cNvSpPr/>
            <p:nvPr/>
          </p:nvSpPr>
          <p:spPr>
            <a:xfrm>
              <a:off x="3634086" y="2635650"/>
              <a:ext cx="689466" cy="1131441"/>
            </a:xfrm>
            <a:custGeom>
              <a:avLst/>
              <a:gdLst>
                <a:gd name="csX0" fmla="*/ 656640 w 689466"/>
                <a:gd name="csY0" fmla="*/ 470071 h 1131441"/>
                <a:gd name="csX1" fmla="*/ 688453 w 689466"/>
                <a:gd name="csY1" fmla="*/ 232232 h 1131441"/>
                <a:gd name="csX2" fmla="*/ 402417 w 689466"/>
                <a:gd name="csY2" fmla="*/ 12 h 1131441"/>
                <a:gd name="csX3" fmla="*/ 110762 w 689466"/>
                <a:gd name="csY3" fmla="*/ 234137 h 1131441"/>
                <a:gd name="csX4" fmla="*/ 2367 w 689466"/>
                <a:gd name="csY4" fmla="*/ 874693 h 1131441"/>
                <a:gd name="csX5" fmla="*/ 288403 w 689466"/>
                <a:gd name="csY5" fmla="*/ 1131297 h 1131441"/>
                <a:gd name="csX6" fmla="*/ 578154 w 689466"/>
                <a:gd name="csY6" fmla="*/ 930891 h 1131441"/>
                <a:gd name="csX7" fmla="*/ 617397 w 689466"/>
                <a:gd name="csY7" fmla="*/ 685527 h 1131441"/>
                <a:gd name="csX8" fmla="*/ 379939 w 689466"/>
                <a:gd name="csY8" fmla="*/ 685527 h 1131441"/>
                <a:gd name="csX9" fmla="*/ 344410 w 689466"/>
                <a:gd name="csY9" fmla="*/ 849547 h 1131441"/>
                <a:gd name="csX10" fmla="*/ 284593 w 689466"/>
                <a:gd name="csY10" fmla="*/ 877646 h 1131441"/>
                <a:gd name="csX11" fmla="*/ 245350 w 689466"/>
                <a:gd name="csY11" fmla="*/ 830783 h 1131441"/>
                <a:gd name="csX12" fmla="*/ 338790 w 689466"/>
                <a:gd name="csY12" fmla="*/ 283857 h 1131441"/>
                <a:gd name="csX13" fmla="*/ 392988 w 689466"/>
                <a:gd name="csY13" fmla="*/ 244519 h 1131441"/>
                <a:gd name="csX14" fmla="*/ 439756 w 689466"/>
                <a:gd name="csY14" fmla="*/ 286524 h 1131441"/>
                <a:gd name="csX15" fmla="*/ 417276 w 689466"/>
                <a:gd name="csY15" fmla="*/ 470071 h 1131441"/>
                <a:gd name="csX16" fmla="*/ 656640 w 689466"/>
                <a:gd name="csY16" fmla="*/ 470071 h 1131441"/>
                <a:gd name="csX17" fmla="*/ 656640 w 689466"/>
                <a:gd name="csY17" fmla="*/ 470071 h 1131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89466" h="1131441">
                  <a:moveTo>
                    <a:pt x="656640" y="470071"/>
                  </a:moveTo>
                  <a:lnTo>
                    <a:pt x="688453" y="232232"/>
                  </a:lnTo>
                  <a:cubicBezTo>
                    <a:pt x="703598" y="118789"/>
                    <a:pt x="546150" y="1251"/>
                    <a:pt x="402417" y="12"/>
                  </a:cubicBezTo>
                  <a:cubicBezTo>
                    <a:pt x="256590" y="-1226"/>
                    <a:pt x="135146" y="90309"/>
                    <a:pt x="110762" y="234137"/>
                  </a:cubicBezTo>
                  <a:lnTo>
                    <a:pt x="2367" y="874693"/>
                  </a:lnTo>
                  <a:cubicBezTo>
                    <a:pt x="-22683" y="1022426"/>
                    <a:pt x="156387" y="1136059"/>
                    <a:pt x="288403" y="1131297"/>
                  </a:cubicBezTo>
                  <a:cubicBezTo>
                    <a:pt x="443565" y="1125677"/>
                    <a:pt x="557961" y="1057097"/>
                    <a:pt x="578154" y="930891"/>
                  </a:cubicBezTo>
                  <a:lnTo>
                    <a:pt x="617397" y="685527"/>
                  </a:lnTo>
                  <a:lnTo>
                    <a:pt x="379939" y="685527"/>
                  </a:lnTo>
                  <a:lnTo>
                    <a:pt x="344410" y="849547"/>
                  </a:lnTo>
                  <a:cubicBezTo>
                    <a:pt x="338981" y="874693"/>
                    <a:pt x="309549" y="883932"/>
                    <a:pt x="284593" y="877646"/>
                  </a:cubicBezTo>
                  <a:cubicBezTo>
                    <a:pt x="261447" y="871836"/>
                    <a:pt x="241350" y="854310"/>
                    <a:pt x="245350" y="830783"/>
                  </a:cubicBezTo>
                  <a:lnTo>
                    <a:pt x="338790" y="283857"/>
                  </a:lnTo>
                  <a:cubicBezTo>
                    <a:pt x="343172" y="258140"/>
                    <a:pt x="366984" y="242519"/>
                    <a:pt x="392988" y="244519"/>
                  </a:cubicBezTo>
                  <a:cubicBezTo>
                    <a:pt x="417372" y="246424"/>
                    <a:pt x="442708" y="262140"/>
                    <a:pt x="439756" y="286524"/>
                  </a:cubicBezTo>
                  <a:lnTo>
                    <a:pt x="417276" y="470071"/>
                  </a:lnTo>
                  <a:lnTo>
                    <a:pt x="656640" y="470071"/>
                  </a:lnTo>
                  <a:lnTo>
                    <a:pt x="656640" y="47007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57C1E63-51E9-23B8-2038-0AD76FF2DE0F}"/>
                </a:ext>
              </a:extLst>
            </p:cNvPr>
            <p:cNvSpPr/>
            <p:nvPr/>
          </p:nvSpPr>
          <p:spPr>
            <a:xfrm>
              <a:off x="3552824" y="3880199"/>
              <a:ext cx="584644" cy="326898"/>
            </a:xfrm>
            <a:custGeom>
              <a:avLst/>
              <a:gdLst>
                <a:gd name="csX0" fmla="*/ 0 w 584644"/>
                <a:gd name="csY0" fmla="*/ 326898 h 326898"/>
                <a:gd name="csX1" fmla="*/ 525304 w 584644"/>
                <a:gd name="csY1" fmla="*/ 326898 h 326898"/>
                <a:gd name="csX2" fmla="*/ 584645 w 584644"/>
                <a:gd name="csY2" fmla="*/ 0 h 326898"/>
                <a:gd name="csX3" fmla="*/ 57721 w 584644"/>
                <a:gd name="csY3" fmla="*/ 0 h 326898"/>
                <a:gd name="csX4" fmla="*/ 0 w 584644"/>
                <a:gd name="csY4" fmla="*/ 326898 h 3268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84644" h="326898">
                  <a:moveTo>
                    <a:pt x="0" y="326898"/>
                  </a:moveTo>
                  <a:lnTo>
                    <a:pt x="525304" y="326898"/>
                  </a:lnTo>
                  <a:lnTo>
                    <a:pt x="584645" y="0"/>
                  </a:lnTo>
                  <a:lnTo>
                    <a:pt x="57721" y="0"/>
                  </a:lnTo>
                  <a:lnTo>
                    <a:pt x="0" y="32689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9967B6-4950-016F-A9B8-2C9D04297D42}"/>
                </a:ext>
              </a:extLst>
            </p:cNvPr>
            <p:cNvSpPr/>
            <p:nvPr/>
          </p:nvSpPr>
          <p:spPr>
            <a:xfrm>
              <a:off x="7207757" y="2645854"/>
              <a:ext cx="839343" cy="1563909"/>
            </a:xfrm>
            <a:custGeom>
              <a:avLst/>
              <a:gdLst>
                <a:gd name="csX0" fmla="*/ 57912 w 839343"/>
                <a:gd name="csY0" fmla="*/ 0 h 1563909"/>
                <a:gd name="csX1" fmla="*/ 839344 w 839343"/>
                <a:gd name="csY1" fmla="*/ 0 h 1563909"/>
                <a:gd name="csX2" fmla="*/ 786956 w 839343"/>
                <a:gd name="csY2" fmla="*/ 335280 h 1563909"/>
                <a:gd name="csX3" fmla="*/ 556070 w 839343"/>
                <a:gd name="csY3" fmla="*/ 335280 h 1563909"/>
                <a:gd name="csX4" fmla="*/ 341091 w 839343"/>
                <a:gd name="csY4" fmla="*/ 1563910 h 1563909"/>
                <a:gd name="csX5" fmla="*/ 34290 w 839343"/>
                <a:gd name="csY5" fmla="*/ 1563910 h 1563909"/>
                <a:gd name="csX6" fmla="*/ 230600 w 839343"/>
                <a:gd name="csY6" fmla="*/ 333375 h 1563909"/>
                <a:gd name="csX7" fmla="*/ 0 w 839343"/>
                <a:gd name="csY7" fmla="*/ 333375 h 1563909"/>
                <a:gd name="csX8" fmla="*/ 57912 w 839343"/>
                <a:gd name="csY8" fmla="*/ 0 h 15639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39343" h="1563909">
                  <a:moveTo>
                    <a:pt x="57912" y="0"/>
                  </a:moveTo>
                  <a:lnTo>
                    <a:pt x="839344" y="0"/>
                  </a:lnTo>
                  <a:lnTo>
                    <a:pt x="786956" y="335280"/>
                  </a:lnTo>
                  <a:lnTo>
                    <a:pt x="556070" y="335280"/>
                  </a:lnTo>
                  <a:lnTo>
                    <a:pt x="341091" y="1563910"/>
                  </a:lnTo>
                  <a:lnTo>
                    <a:pt x="34290" y="1563910"/>
                  </a:lnTo>
                  <a:lnTo>
                    <a:pt x="230600" y="333375"/>
                  </a:lnTo>
                  <a:lnTo>
                    <a:pt x="0" y="333375"/>
                  </a:lnTo>
                  <a:lnTo>
                    <a:pt x="57912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4D38D03-4FD7-D7BD-96E8-73B0EB294DDA}"/>
                </a:ext>
              </a:extLst>
            </p:cNvPr>
            <p:cNvSpPr/>
            <p:nvPr/>
          </p:nvSpPr>
          <p:spPr>
            <a:xfrm>
              <a:off x="2174366" y="2644044"/>
              <a:ext cx="1503044" cy="1565719"/>
            </a:xfrm>
            <a:custGeom>
              <a:avLst/>
              <a:gdLst>
                <a:gd name="csX0" fmla="*/ 261747 w 1503044"/>
                <a:gd name="csY0" fmla="*/ 0 h 1565719"/>
                <a:gd name="csX1" fmla="*/ 684276 w 1503044"/>
                <a:gd name="csY1" fmla="*/ 0 h 1565719"/>
                <a:gd name="csX2" fmla="*/ 781431 w 1503044"/>
                <a:gd name="csY2" fmla="*/ 659225 h 1565719"/>
                <a:gd name="csX3" fmla="*/ 1043178 w 1503044"/>
                <a:gd name="csY3" fmla="*/ 0 h 1565719"/>
                <a:gd name="csX4" fmla="*/ 1503045 w 1503044"/>
                <a:gd name="csY4" fmla="*/ 0 h 1565719"/>
                <a:gd name="csX5" fmla="*/ 1243203 w 1503044"/>
                <a:gd name="csY5" fmla="*/ 1565720 h 1565719"/>
                <a:gd name="csX6" fmla="*/ 917924 w 1503044"/>
                <a:gd name="csY6" fmla="*/ 1565720 h 1565719"/>
                <a:gd name="csX7" fmla="*/ 1046893 w 1503044"/>
                <a:gd name="csY7" fmla="*/ 767905 h 1565719"/>
                <a:gd name="csX8" fmla="*/ 732854 w 1503044"/>
                <a:gd name="csY8" fmla="*/ 1565720 h 1565719"/>
                <a:gd name="csX9" fmla="*/ 538448 w 1503044"/>
                <a:gd name="csY9" fmla="*/ 1565720 h 1565719"/>
                <a:gd name="csX10" fmla="*/ 463677 w 1503044"/>
                <a:gd name="csY10" fmla="*/ 775335 h 1565719"/>
                <a:gd name="csX11" fmla="*/ 330899 w 1503044"/>
                <a:gd name="csY11" fmla="*/ 1565720 h 1565719"/>
                <a:gd name="csX12" fmla="*/ 0 w 1503044"/>
                <a:gd name="csY12" fmla="*/ 1565720 h 1565719"/>
                <a:gd name="csX13" fmla="*/ 261747 w 1503044"/>
                <a:gd name="csY13" fmla="*/ 0 h 15657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03044" h="1565719">
                  <a:moveTo>
                    <a:pt x="261747" y="0"/>
                  </a:moveTo>
                  <a:lnTo>
                    <a:pt x="684276" y="0"/>
                  </a:lnTo>
                  <a:lnTo>
                    <a:pt x="781431" y="659225"/>
                  </a:lnTo>
                  <a:lnTo>
                    <a:pt x="1043178" y="0"/>
                  </a:lnTo>
                  <a:lnTo>
                    <a:pt x="1503045" y="0"/>
                  </a:lnTo>
                  <a:lnTo>
                    <a:pt x="1243203" y="1565720"/>
                  </a:lnTo>
                  <a:lnTo>
                    <a:pt x="917924" y="1565720"/>
                  </a:lnTo>
                  <a:lnTo>
                    <a:pt x="1046893" y="767905"/>
                  </a:lnTo>
                  <a:lnTo>
                    <a:pt x="732854" y="1565720"/>
                  </a:lnTo>
                  <a:lnTo>
                    <a:pt x="538448" y="1565720"/>
                  </a:lnTo>
                  <a:lnTo>
                    <a:pt x="463677" y="775335"/>
                  </a:lnTo>
                  <a:lnTo>
                    <a:pt x="330899" y="1565720"/>
                  </a:lnTo>
                  <a:lnTo>
                    <a:pt x="0" y="1565720"/>
                  </a:lnTo>
                  <a:lnTo>
                    <a:pt x="26174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3DE4B5C-BB88-1E61-9F05-9461F8760AD1}"/>
                </a:ext>
              </a:extLst>
            </p:cNvPr>
            <p:cNvSpPr/>
            <p:nvPr/>
          </p:nvSpPr>
          <p:spPr>
            <a:xfrm>
              <a:off x="9015031" y="2655284"/>
              <a:ext cx="987075" cy="1554479"/>
            </a:xfrm>
            <a:custGeom>
              <a:avLst/>
              <a:gdLst>
                <a:gd name="csX0" fmla="*/ 0 w 987075"/>
                <a:gd name="csY0" fmla="*/ 0 h 1554479"/>
                <a:gd name="csX1" fmla="*/ 325374 w 987075"/>
                <a:gd name="csY1" fmla="*/ 0 h 1554479"/>
                <a:gd name="csX2" fmla="*/ 411385 w 987075"/>
                <a:gd name="csY2" fmla="*/ 550640 h 1554479"/>
                <a:gd name="csX3" fmla="*/ 646843 w 987075"/>
                <a:gd name="csY3" fmla="*/ 0 h 1554479"/>
                <a:gd name="csX4" fmla="*/ 987075 w 987075"/>
                <a:gd name="csY4" fmla="*/ 0 h 1554479"/>
                <a:gd name="csX5" fmla="*/ 481679 w 987075"/>
                <a:gd name="csY5" fmla="*/ 1013269 h 1554479"/>
                <a:gd name="csX6" fmla="*/ 390048 w 987075"/>
                <a:gd name="csY6" fmla="*/ 1554480 h 1554479"/>
                <a:gd name="csX7" fmla="*/ 82296 w 987075"/>
                <a:gd name="csY7" fmla="*/ 1554480 h 1554479"/>
                <a:gd name="csX8" fmla="*/ 173926 w 987075"/>
                <a:gd name="csY8" fmla="*/ 1018889 h 1554479"/>
                <a:gd name="csX9" fmla="*/ 0 w 987075"/>
                <a:gd name="csY9" fmla="*/ 0 h 1554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987075" h="1554479">
                  <a:moveTo>
                    <a:pt x="0" y="0"/>
                  </a:moveTo>
                  <a:lnTo>
                    <a:pt x="325374" y="0"/>
                  </a:lnTo>
                  <a:lnTo>
                    <a:pt x="411385" y="550640"/>
                  </a:lnTo>
                  <a:lnTo>
                    <a:pt x="646843" y="0"/>
                  </a:lnTo>
                  <a:lnTo>
                    <a:pt x="987075" y="0"/>
                  </a:lnTo>
                  <a:lnTo>
                    <a:pt x="481679" y="1013269"/>
                  </a:lnTo>
                  <a:lnTo>
                    <a:pt x="390048" y="1554480"/>
                  </a:lnTo>
                  <a:lnTo>
                    <a:pt x="82296" y="1554480"/>
                  </a:lnTo>
                  <a:lnTo>
                    <a:pt x="173926" y="1018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D561F98-0A2F-1120-8DA9-91392F2AFCA8}"/>
                </a:ext>
              </a:extLst>
            </p:cNvPr>
            <p:cNvSpPr/>
            <p:nvPr/>
          </p:nvSpPr>
          <p:spPr>
            <a:xfrm>
              <a:off x="10052494" y="4209764"/>
              <a:ext cx="316040" cy="316515"/>
            </a:xfrm>
            <a:custGeom>
              <a:avLst/>
              <a:gdLst>
                <a:gd name="csX0" fmla="*/ 270606 w 316040"/>
                <a:gd name="csY0" fmla="*/ 46768 h 316515"/>
                <a:gd name="csX1" fmla="*/ 316040 w 316040"/>
                <a:gd name="csY1" fmla="*/ 158305 h 316515"/>
                <a:gd name="csX2" fmla="*/ 270224 w 316040"/>
                <a:gd name="csY2" fmla="*/ 269367 h 316515"/>
                <a:gd name="csX3" fmla="*/ 157829 w 316040"/>
                <a:gd name="csY3" fmla="*/ 316516 h 316515"/>
                <a:gd name="csX4" fmla="*/ 46291 w 316040"/>
                <a:gd name="csY4" fmla="*/ 269367 h 316515"/>
                <a:gd name="csX5" fmla="*/ 0 w 316040"/>
                <a:gd name="csY5" fmla="*/ 158305 h 316515"/>
                <a:gd name="csX6" fmla="*/ 47625 w 316040"/>
                <a:gd name="csY6" fmla="*/ 45434 h 316515"/>
                <a:gd name="csX7" fmla="*/ 157829 w 316040"/>
                <a:gd name="csY7" fmla="*/ 0 h 316515"/>
                <a:gd name="csX8" fmla="*/ 270606 w 316040"/>
                <a:gd name="csY8" fmla="*/ 46768 h 316515"/>
                <a:gd name="csX9" fmla="*/ 257366 w 316040"/>
                <a:gd name="csY9" fmla="*/ 60007 h 316515"/>
                <a:gd name="csX10" fmla="*/ 157733 w 316040"/>
                <a:gd name="csY10" fmla="*/ 19050 h 316515"/>
                <a:gd name="csX11" fmla="*/ 60770 w 316040"/>
                <a:gd name="csY11" fmla="*/ 58769 h 316515"/>
                <a:gd name="csX12" fmla="*/ 18859 w 316040"/>
                <a:gd name="csY12" fmla="*/ 158401 h 316515"/>
                <a:gd name="csX13" fmla="*/ 59817 w 316040"/>
                <a:gd name="csY13" fmla="*/ 256318 h 316515"/>
                <a:gd name="csX14" fmla="*/ 157258 w 316040"/>
                <a:gd name="csY14" fmla="*/ 297275 h 316515"/>
                <a:gd name="csX15" fmla="*/ 256889 w 316040"/>
                <a:gd name="csY15" fmla="*/ 256318 h 316515"/>
                <a:gd name="csX16" fmla="*/ 297466 w 316040"/>
                <a:gd name="csY16" fmla="*/ 159353 h 316515"/>
                <a:gd name="csX17" fmla="*/ 257366 w 316040"/>
                <a:gd name="csY17" fmla="*/ 60007 h 316515"/>
                <a:gd name="csX18" fmla="*/ 237553 w 316040"/>
                <a:gd name="csY18" fmla="*/ 115157 h 316515"/>
                <a:gd name="csX19" fmla="*/ 195263 w 316040"/>
                <a:gd name="csY19" fmla="*/ 163258 h 316515"/>
                <a:gd name="csX20" fmla="*/ 235839 w 316040"/>
                <a:gd name="csY20" fmla="*/ 246126 h 316515"/>
                <a:gd name="csX21" fmla="*/ 201930 w 316040"/>
                <a:gd name="csY21" fmla="*/ 246126 h 316515"/>
                <a:gd name="csX22" fmla="*/ 164020 w 316040"/>
                <a:gd name="csY22" fmla="*/ 167640 h 316515"/>
                <a:gd name="csX23" fmla="*/ 125634 w 316040"/>
                <a:gd name="csY23" fmla="*/ 167640 h 316515"/>
                <a:gd name="csX24" fmla="*/ 125634 w 316040"/>
                <a:gd name="csY24" fmla="*/ 246126 h 316515"/>
                <a:gd name="csX25" fmla="*/ 95250 w 316040"/>
                <a:gd name="csY25" fmla="*/ 246126 h 316515"/>
                <a:gd name="csX26" fmla="*/ 95250 w 316040"/>
                <a:gd name="csY26" fmla="*/ 65341 h 316515"/>
                <a:gd name="csX27" fmla="*/ 162306 w 316040"/>
                <a:gd name="csY27" fmla="*/ 65341 h 316515"/>
                <a:gd name="csX28" fmla="*/ 237553 w 316040"/>
                <a:gd name="csY28" fmla="*/ 115157 h 316515"/>
                <a:gd name="csX29" fmla="*/ 125540 w 316040"/>
                <a:gd name="csY29" fmla="*/ 85154 h 316515"/>
                <a:gd name="csX30" fmla="*/ 125540 w 316040"/>
                <a:gd name="csY30" fmla="*/ 147733 h 316515"/>
                <a:gd name="csX31" fmla="*/ 157258 w 316040"/>
                <a:gd name="csY31" fmla="*/ 147733 h 316515"/>
                <a:gd name="csX32" fmla="*/ 206216 w 316040"/>
                <a:gd name="csY32" fmla="*/ 117348 h 316515"/>
                <a:gd name="csX33" fmla="*/ 156401 w 316040"/>
                <a:gd name="csY33" fmla="*/ 85154 h 316515"/>
                <a:gd name="csX34" fmla="*/ 125540 w 316040"/>
                <a:gd name="csY34" fmla="*/ 85154 h 3165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316040" h="316515">
                  <a:moveTo>
                    <a:pt x="270606" y="46768"/>
                  </a:moveTo>
                  <a:cubicBezTo>
                    <a:pt x="300133" y="76295"/>
                    <a:pt x="316040" y="116014"/>
                    <a:pt x="316040" y="158305"/>
                  </a:cubicBezTo>
                  <a:cubicBezTo>
                    <a:pt x="316040" y="201549"/>
                    <a:pt x="300133" y="240316"/>
                    <a:pt x="270224" y="269367"/>
                  </a:cubicBezTo>
                  <a:cubicBezTo>
                    <a:pt x="238887" y="299752"/>
                    <a:pt x="199263" y="316516"/>
                    <a:pt x="157829" y="316516"/>
                  </a:cubicBezTo>
                  <a:cubicBezTo>
                    <a:pt x="115920" y="316516"/>
                    <a:pt x="76677" y="299752"/>
                    <a:pt x="46291" y="269367"/>
                  </a:cubicBezTo>
                  <a:cubicBezTo>
                    <a:pt x="16287" y="239363"/>
                    <a:pt x="0" y="200120"/>
                    <a:pt x="0" y="158305"/>
                  </a:cubicBezTo>
                  <a:cubicBezTo>
                    <a:pt x="0" y="116396"/>
                    <a:pt x="16764" y="76295"/>
                    <a:pt x="47625" y="45434"/>
                  </a:cubicBezTo>
                  <a:cubicBezTo>
                    <a:pt x="76677" y="15907"/>
                    <a:pt x="115062" y="0"/>
                    <a:pt x="157829" y="0"/>
                  </a:cubicBezTo>
                  <a:cubicBezTo>
                    <a:pt x="200977" y="0"/>
                    <a:pt x="240220" y="16383"/>
                    <a:pt x="270606" y="46768"/>
                  </a:cubicBezTo>
                  <a:close/>
                  <a:moveTo>
                    <a:pt x="257366" y="60007"/>
                  </a:moveTo>
                  <a:cubicBezTo>
                    <a:pt x="230505" y="33147"/>
                    <a:pt x="196119" y="19050"/>
                    <a:pt x="157733" y="19050"/>
                  </a:cubicBezTo>
                  <a:cubicBezTo>
                    <a:pt x="120301" y="19050"/>
                    <a:pt x="86296" y="32766"/>
                    <a:pt x="60770" y="58769"/>
                  </a:cubicBezTo>
                  <a:cubicBezTo>
                    <a:pt x="33433" y="86106"/>
                    <a:pt x="18859" y="121348"/>
                    <a:pt x="18859" y="158401"/>
                  </a:cubicBezTo>
                  <a:cubicBezTo>
                    <a:pt x="18859" y="194977"/>
                    <a:pt x="33433" y="229362"/>
                    <a:pt x="59817" y="256318"/>
                  </a:cubicBezTo>
                  <a:cubicBezTo>
                    <a:pt x="86296" y="283178"/>
                    <a:pt x="121062" y="297275"/>
                    <a:pt x="157258" y="297275"/>
                  </a:cubicBezTo>
                  <a:cubicBezTo>
                    <a:pt x="194786" y="297275"/>
                    <a:pt x="229552" y="283178"/>
                    <a:pt x="256889" y="256318"/>
                  </a:cubicBezTo>
                  <a:cubicBezTo>
                    <a:pt x="282892" y="230696"/>
                    <a:pt x="297466" y="196787"/>
                    <a:pt x="297466" y="159353"/>
                  </a:cubicBezTo>
                  <a:cubicBezTo>
                    <a:pt x="297466" y="121253"/>
                    <a:pt x="283369" y="86011"/>
                    <a:pt x="257366" y="60007"/>
                  </a:cubicBezTo>
                  <a:close/>
                  <a:moveTo>
                    <a:pt x="237553" y="115157"/>
                  </a:moveTo>
                  <a:cubicBezTo>
                    <a:pt x="237553" y="140303"/>
                    <a:pt x="221647" y="158782"/>
                    <a:pt x="195263" y="163258"/>
                  </a:cubicBezTo>
                  <a:lnTo>
                    <a:pt x="235839" y="246126"/>
                  </a:lnTo>
                  <a:lnTo>
                    <a:pt x="201930" y="246126"/>
                  </a:lnTo>
                  <a:lnTo>
                    <a:pt x="164020" y="167640"/>
                  </a:lnTo>
                  <a:lnTo>
                    <a:pt x="125634" y="167640"/>
                  </a:lnTo>
                  <a:lnTo>
                    <a:pt x="125634" y="246126"/>
                  </a:lnTo>
                  <a:lnTo>
                    <a:pt x="95250" y="246126"/>
                  </a:lnTo>
                  <a:lnTo>
                    <a:pt x="95250" y="65341"/>
                  </a:lnTo>
                  <a:lnTo>
                    <a:pt x="162306" y="65341"/>
                  </a:lnTo>
                  <a:cubicBezTo>
                    <a:pt x="212408" y="65246"/>
                    <a:pt x="237553" y="81153"/>
                    <a:pt x="237553" y="115157"/>
                  </a:cubicBezTo>
                  <a:close/>
                  <a:moveTo>
                    <a:pt x="125540" y="85154"/>
                  </a:moveTo>
                  <a:lnTo>
                    <a:pt x="125540" y="147733"/>
                  </a:lnTo>
                  <a:lnTo>
                    <a:pt x="157258" y="147733"/>
                  </a:lnTo>
                  <a:cubicBezTo>
                    <a:pt x="190786" y="147733"/>
                    <a:pt x="206216" y="140208"/>
                    <a:pt x="206216" y="117348"/>
                  </a:cubicBezTo>
                  <a:cubicBezTo>
                    <a:pt x="206216" y="94012"/>
                    <a:pt x="190309" y="85154"/>
                    <a:pt x="156401" y="85154"/>
                  </a:cubicBezTo>
                  <a:lnTo>
                    <a:pt x="125540" y="8515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470F412-6743-8D00-2930-79F97102A6C2}"/>
                </a:ext>
              </a:extLst>
            </p:cNvPr>
            <p:cNvSpPr/>
            <p:nvPr/>
          </p:nvSpPr>
          <p:spPr>
            <a:xfrm>
              <a:off x="5082158" y="2651474"/>
              <a:ext cx="967645" cy="1558290"/>
            </a:xfrm>
            <a:custGeom>
              <a:avLst/>
              <a:gdLst>
                <a:gd name="csX0" fmla="*/ 506539 w 967645"/>
                <a:gd name="csY0" fmla="*/ 0 h 1558290"/>
                <a:gd name="csX1" fmla="*/ 493395 w 967645"/>
                <a:gd name="csY1" fmla="*/ 0 h 1558290"/>
                <a:gd name="csX2" fmla="*/ 0 w 967645"/>
                <a:gd name="csY2" fmla="*/ 1558290 h 1558290"/>
                <a:gd name="csX3" fmla="*/ 325184 w 967645"/>
                <a:gd name="csY3" fmla="*/ 1558290 h 1558290"/>
                <a:gd name="csX4" fmla="*/ 422434 w 967645"/>
                <a:gd name="csY4" fmla="*/ 1254823 h 1558290"/>
                <a:gd name="csX5" fmla="*/ 652367 w 967645"/>
                <a:gd name="csY5" fmla="*/ 1254823 h 1558290"/>
                <a:gd name="csX6" fmla="*/ 652367 w 967645"/>
                <a:gd name="csY6" fmla="*/ 1558290 h 1558290"/>
                <a:gd name="csX7" fmla="*/ 967645 w 967645"/>
                <a:gd name="csY7" fmla="*/ 1558290 h 1558290"/>
                <a:gd name="csX8" fmla="*/ 967645 w 967645"/>
                <a:gd name="csY8" fmla="*/ 0 h 1558290"/>
                <a:gd name="csX9" fmla="*/ 506539 w 967645"/>
                <a:gd name="csY9" fmla="*/ 0 h 1558290"/>
                <a:gd name="csX10" fmla="*/ 652272 w 967645"/>
                <a:gd name="csY10" fmla="*/ 944023 h 1558290"/>
                <a:gd name="csX11" fmla="*/ 504634 w 967645"/>
                <a:gd name="csY11" fmla="*/ 944023 h 1558290"/>
                <a:gd name="csX12" fmla="*/ 652272 w 967645"/>
                <a:gd name="csY12" fmla="*/ 413956 h 1558290"/>
                <a:gd name="csX13" fmla="*/ 652272 w 967645"/>
                <a:gd name="csY13" fmla="*/ 944023 h 1558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67645" h="1558290">
                  <a:moveTo>
                    <a:pt x="506539" y="0"/>
                  </a:moveTo>
                  <a:lnTo>
                    <a:pt x="493395" y="0"/>
                  </a:lnTo>
                  <a:lnTo>
                    <a:pt x="0" y="1558290"/>
                  </a:lnTo>
                  <a:lnTo>
                    <a:pt x="325184" y="1558290"/>
                  </a:lnTo>
                  <a:lnTo>
                    <a:pt x="422434" y="1254823"/>
                  </a:lnTo>
                  <a:lnTo>
                    <a:pt x="652367" y="1254823"/>
                  </a:lnTo>
                  <a:lnTo>
                    <a:pt x="652367" y="1558290"/>
                  </a:lnTo>
                  <a:lnTo>
                    <a:pt x="967645" y="1558290"/>
                  </a:lnTo>
                  <a:lnTo>
                    <a:pt x="967645" y="0"/>
                  </a:lnTo>
                  <a:lnTo>
                    <a:pt x="506539" y="0"/>
                  </a:lnTo>
                  <a:close/>
                  <a:moveTo>
                    <a:pt x="652272" y="944023"/>
                  </a:moveTo>
                  <a:lnTo>
                    <a:pt x="504634" y="944023"/>
                  </a:lnTo>
                  <a:lnTo>
                    <a:pt x="652272" y="413956"/>
                  </a:lnTo>
                  <a:lnTo>
                    <a:pt x="652272" y="94402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05656DB-5F57-BA44-2961-BB187158E0DB}"/>
                </a:ext>
              </a:extLst>
            </p:cNvPr>
            <p:cNvSpPr/>
            <p:nvPr/>
          </p:nvSpPr>
          <p:spPr>
            <a:xfrm>
              <a:off x="6129908" y="2643949"/>
              <a:ext cx="1018393" cy="1565814"/>
            </a:xfrm>
            <a:custGeom>
              <a:avLst/>
              <a:gdLst>
                <a:gd name="csX0" fmla="*/ 1015460 w 1018393"/>
                <a:gd name="csY0" fmla="*/ 337185 h 1565814"/>
                <a:gd name="csX1" fmla="*/ 884587 w 1018393"/>
                <a:gd name="csY1" fmla="*/ 71247 h 1565814"/>
                <a:gd name="csX2" fmla="*/ 756952 w 1018393"/>
                <a:gd name="csY2" fmla="*/ 10001 h 1565814"/>
                <a:gd name="csX3" fmla="*/ 613505 w 1018393"/>
                <a:gd name="csY3" fmla="*/ 0 h 1565814"/>
                <a:gd name="csX4" fmla="*/ 254222 w 1018393"/>
                <a:gd name="csY4" fmla="*/ 0 h 1565814"/>
                <a:gd name="csX5" fmla="*/ 241554 w 1018393"/>
                <a:gd name="csY5" fmla="*/ 0 h 1565814"/>
                <a:gd name="csX6" fmla="*/ 0 w 1018393"/>
                <a:gd name="csY6" fmla="*/ 1565815 h 1565814"/>
                <a:gd name="csX7" fmla="*/ 304133 w 1018393"/>
                <a:gd name="csY7" fmla="*/ 1565815 h 1565814"/>
                <a:gd name="csX8" fmla="*/ 401384 w 1018393"/>
                <a:gd name="csY8" fmla="*/ 1045083 h 1565814"/>
                <a:gd name="csX9" fmla="*/ 499586 w 1018393"/>
                <a:gd name="csY9" fmla="*/ 1022604 h 1565814"/>
                <a:gd name="csX10" fmla="*/ 596836 w 1018393"/>
                <a:gd name="csY10" fmla="*/ 1565719 h 1565814"/>
                <a:gd name="csX11" fmla="*/ 918686 w 1018393"/>
                <a:gd name="csY11" fmla="*/ 1565719 h 1565814"/>
                <a:gd name="csX12" fmla="*/ 800862 w 1018393"/>
                <a:gd name="csY12" fmla="*/ 872681 h 1565814"/>
                <a:gd name="csX13" fmla="*/ 966978 w 1018393"/>
                <a:gd name="csY13" fmla="*/ 644176 h 1565814"/>
                <a:gd name="csX14" fmla="*/ 1015460 w 1018393"/>
                <a:gd name="csY14" fmla="*/ 337185 h 1565814"/>
                <a:gd name="csX15" fmla="*/ 590645 w 1018393"/>
                <a:gd name="csY15" fmla="*/ 605028 h 1565814"/>
                <a:gd name="csX16" fmla="*/ 441484 w 1018393"/>
                <a:gd name="csY16" fmla="*/ 672465 h 1565814"/>
                <a:gd name="csX17" fmla="*/ 501968 w 1018393"/>
                <a:gd name="csY17" fmla="*/ 304419 h 1565814"/>
                <a:gd name="csX18" fmla="*/ 667798 w 1018393"/>
                <a:gd name="csY18" fmla="*/ 417671 h 1565814"/>
                <a:gd name="csX19" fmla="*/ 590645 w 1018393"/>
                <a:gd name="csY19" fmla="*/ 605028 h 15658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018393" h="1565814">
                  <a:moveTo>
                    <a:pt x="1015460" y="337185"/>
                  </a:moveTo>
                  <a:cubicBezTo>
                    <a:pt x="1004507" y="222028"/>
                    <a:pt x="972502" y="138684"/>
                    <a:pt x="884587" y="71247"/>
                  </a:cubicBezTo>
                  <a:cubicBezTo>
                    <a:pt x="840105" y="37052"/>
                    <a:pt x="799719" y="19241"/>
                    <a:pt x="756952" y="10001"/>
                  </a:cubicBezTo>
                  <a:cubicBezTo>
                    <a:pt x="713899" y="667"/>
                    <a:pt x="668369" y="0"/>
                    <a:pt x="613505" y="0"/>
                  </a:cubicBezTo>
                  <a:lnTo>
                    <a:pt x="254222" y="0"/>
                  </a:lnTo>
                  <a:lnTo>
                    <a:pt x="241554" y="0"/>
                  </a:lnTo>
                  <a:lnTo>
                    <a:pt x="0" y="1565815"/>
                  </a:lnTo>
                  <a:lnTo>
                    <a:pt x="304133" y="1565815"/>
                  </a:lnTo>
                  <a:lnTo>
                    <a:pt x="401384" y="1045083"/>
                  </a:lnTo>
                  <a:lnTo>
                    <a:pt x="499586" y="1022604"/>
                  </a:lnTo>
                  <a:lnTo>
                    <a:pt x="596836" y="1565719"/>
                  </a:lnTo>
                  <a:lnTo>
                    <a:pt x="918686" y="1565719"/>
                  </a:lnTo>
                  <a:lnTo>
                    <a:pt x="800862" y="872681"/>
                  </a:lnTo>
                  <a:cubicBezTo>
                    <a:pt x="799909" y="866870"/>
                    <a:pt x="931450" y="752856"/>
                    <a:pt x="966978" y="644176"/>
                  </a:cubicBezTo>
                  <a:cubicBezTo>
                    <a:pt x="1004602" y="529114"/>
                    <a:pt x="1026700" y="455200"/>
                    <a:pt x="1015460" y="337185"/>
                  </a:cubicBezTo>
                  <a:close/>
                  <a:moveTo>
                    <a:pt x="590645" y="605028"/>
                  </a:moveTo>
                  <a:cubicBezTo>
                    <a:pt x="548735" y="644271"/>
                    <a:pt x="435769" y="706469"/>
                    <a:pt x="441484" y="672465"/>
                  </a:cubicBezTo>
                  <a:lnTo>
                    <a:pt x="501968" y="304419"/>
                  </a:lnTo>
                  <a:cubicBezTo>
                    <a:pt x="655225" y="293656"/>
                    <a:pt x="667798" y="417671"/>
                    <a:pt x="667798" y="417671"/>
                  </a:cubicBezTo>
                  <a:cubicBezTo>
                    <a:pt x="670274" y="520922"/>
                    <a:pt x="643318" y="555593"/>
                    <a:pt x="590645" y="60502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50BE1D32-4BA2-2EAD-5545-5BCBC4E7602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06430" y="2599072"/>
            <a:ext cx="1874050" cy="359295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DD2F464A-ADF7-CDE7-2997-026A4686345B}"/>
              </a:ext>
            </a:extLst>
          </p:cNvPr>
          <p:cNvGrpSpPr/>
          <p:nvPr/>
        </p:nvGrpSpPr>
        <p:grpSpPr>
          <a:xfrm>
            <a:off x="4588938" y="2122831"/>
            <a:ext cx="1290108" cy="200058"/>
            <a:chOff x="1725094" y="4793683"/>
            <a:chExt cx="2807069" cy="435293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BE4AA17-6439-EA8D-A1CF-664281D9C6C1}"/>
                </a:ext>
              </a:extLst>
            </p:cNvPr>
            <p:cNvSpPr/>
            <p:nvPr/>
          </p:nvSpPr>
          <p:spPr>
            <a:xfrm>
              <a:off x="2243254" y="4804161"/>
              <a:ext cx="340994" cy="424815"/>
            </a:xfrm>
            <a:custGeom>
              <a:avLst/>
              <a:gdLst>
                <a:gd name="csX0" fmla="*/ 226695 w 340994"/>
                <a:gd name="csY0" fmla="*/ 54293 h 424815"/>
                <a:gd name="csX1" fmla="*/ 329565 w 340994"/>
                <a:gd name="csY1" fmla="*/ 80962 h 424815"/>
                <a:gd name="csX2" fmla="*/ 340042 w 340994"/>
                <a:gd name="csY2" fmla="*/ 26670 h 424815"/>
                <a:gd name="csX3" fmla="*/ 220027 w 340994"/>
                <a:gd name="csY3" fmla="*/ 0 h 424815"/>
                <a:gd name="csX4" fmla="*/ 0 w 340994"/>
                <a:gd name="csY4" fmla="*/ 212407 h 424815"/>
                <a:gd name="csX5" fmla="*/ 220027 w 340994"/>
                <a:gd name="csY5" fmla="*/ 424815 h 424815"/>
                <a:gd name="csX6" fmla="*/ 340995 w 340994"/>
                <a:gd name="csY6" fmla="*/ 399098 h 424815"/>
                <a:gd name="csX7" fmla="*/ 328613 w 340994"/>
                <a:gd name="csY7" fmla="*/ 351473 h 424815"/>
                <a:gd name="csX8" fmla="*/ 322898 w 340994"/>
                <a:gd name="csY8" fmla="*/ 354330 h 424815"/>
                <a:gd name="csX9" fmla="*/ 227648 w 340994"/>
                <a:gd name="csY9" fmla="*/ 371475 h 424815"/>
                <a:gd name="csX10" fmla="*/ 62865 w 340994"/>
                <a:gd name="csY10" fmla="*/ 213360 h 424815"/>
                <a:gd name="csX11" fmla="*/ 226695 w 340994"/>
                <a:gd name="csY11" fmla="*/ 54293 h 4248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40994" h="424815">
                  <a:moveTo>
                    <a:pt x="226695" y="54293"/>
                  </a:moveTo>
                  <a:cubicBezTo>
                    <a:pt x="268605" y="54293"/>
                    <a:pt x="309563" y="68580"/>
                    <a:pt x="329565" y="80962"/>
                  </a:cubicBezTo>
                  <a:lnTo>
                    <a:pt x="340042" y="26670"/>
                  </a:lnTo>
                  <a:cubicBezTo>
                    <a:pt x="315278" y="12383"/>
                    <a:pt x="276225" y="0"/>
                    <a:pt x="220027" y="0"/>
                  </a:cubicBezTo>
                  <a:cubicBezTo>
                    <a:pt x="118110" y="0"/>
                    <a:pt x="0" y="71437"/>
                    <a:pt x="0" y="212407"/>
                  </a:cubicBezTo>
                  <a:cubicBezTo>
                    <a:pt x="0" y="352425"/>
                    <a:pt x="117157" y="424815"/>
                    <a:pt x="220027" y="424815"/>
                  </a:cubicBezTo>
                  <a:cubicBezTo>
                    <a:pt x="272415" y="424815"/>
                    <a:pt x="315278" y="412432"/>
                    <a:pt x="340995" y="399098"/>
                  </a:cubicBezTo>
                  <a:lnTo>
                    <a:pt x="328613" y="351473"/>
                  </a:lnTo>
                  <a:cubicBezTo>
                    <a:pt x="328613" y="351473"/>
                    <a:pt x="323850" y="354330"/>
                    <a:pt x="322898" y="354330"/>
                  </a:cubicBezTo>
                  <a:cubicBezTo>
                    <a:pt x="298132" y="364807"/>
                    <a:pt x="265748" y="371475"/>
                    <a:pt x="227648" y="371475"/>
                  </a:cubicBezTo>
                  <a:cubicBezTo>
                    <a:pt x="145732" y="371475"/>
                    <a:pt x="62865" y="319088"/>
                    <a:pt x="62865" y="213360"/>
                  </a:cubicBezTo>
                  <a:cubicBezTo>
                    <a:pt x="61913" y="105727"/>
                    <a:pt x="146685" y="54293"/>
                    <a:pt x="226695" y="54293"/>
                  </a:cubicBezTo>
                </a:path>
              </a:pathLst>
            </a:custGeom>
            <a:solidFill>
              <a:srgbClr val="004A77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15B0B1F-13AB-A19C-27C4-3D0DE5A5C44F}"/>
                </a:ext>
              </a:extLst>
            </p:cNvPr>
            <p:cNvSpPr/>
            <p:nvPr/>
          </p:nvSpPr>
          <p:spPr>
            <a:xfrm>
              <a:off x="2600442" y="4863216"/>
              <a:ext cx="373380" cy="365760"/>
            </a:xfrm>
            <a:custGeom>
              <a:avLst/>
              <a:gdLst>
                <a:gd name="csX0" fmla="*/ 186690 w 373380"/>
                <a:gd name="csY0" fmla="*/ 0 h 365760"/>
                <a:gd name="csX1" fmla="*/ 0 w 373380"/>
                <a:gd name="csY1" fmla="*/ 182880 h 365760"/>
                <a:gd name="csX2" fmla="*/ 186690 w 373380"/>
                <a:gd name="csY2" fmla="*/ 365760 h 365760"/>
                <a:gd name="csX3" fmla="*/ 373380 w 373380"/>
                <a:gd name="csY3" fmla="*/ 182880 h 365760"/>
                <a:gd name="csX4" fmla="*/ 186690 w 373380"/>
                <a:gd name="csY4" fmla="*/ 0 h 365760"/>
                <a:gd name="csX5" fmla="*/ 186690 w 373380"/>
                <a:gd name="csY5" fmla="*/ 312420 h 365760"/>
                <a:gd name="csX6" fmla="*/ 60960 w 373380"/>
                <a:gd name="csY6" fmla="*/ 181927 h 365760"/>
                <a:gd name="csX7" fmla="*/ 186690 w 373380"/>
                <a:gd name="csY7" fmla="*/ 52388 h 365760"/>
                <a:gd name="csX8" fmla="*/ 312420 w 373380"/>
                <a:gd name="csY8" fmla="*/ 181927 h 365760"/>
                <a:gd name="csX9" fmla="*/ 186690 w 373380"/>
                <a:gd name="csY9" fmla="*/ 312420 h 365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73380" h="365760">
                  <a:moveTo>
                    <a:pt x="186690" y="0"/>
                  </a:moveTo>
                  <a:cubicBezTo>
                    <a:pt x="93345" y="0"/>
                    <a:pt x="0" y="69532"/>
                    <a:pt x="0" y="182880"/>
                  </a:cubicBezTo>
                  <a:cubicBezTo>
                    <a:pt x="0" y="297180"/>
                    <a:pt x="92392" y="365760"/>
                    <a:pt x="186690" y="365760"/>
                  </a:cubicBezTo>
                  <a:cubicBezTo>
                    <a:pt x="280035" y="365760"/>
                    <a:pt x="373380" y="297180"/>
                    <a:pt x="373380" y="182880"/>
                  </a:cubicBezTo>
                  <a:cubicBezTo>
                    <a:pt x="373380" y="69532"/>
                    <a:pt x="280987" y="0"/>
                    <a:pt x="186690" y="0"/>
                  </a:cubicBezTo>
                  <a:moveTo>
                    <a:pt x="186690" y="312420"/>
                  </a:moveTo>
                  <a:cubicBezTo>
                    <a:pt x="124777" y="312420"/>
                    <a:pt x="60960" y="264795"/>
                    <a:pt x="60960" y="181927"/>
                  </a:cubicBezTo>
                  <a:cubicBezTo>
                    <a:pt x="60960" y="99060"/>
                    <a:pt x="124777" y="52388"/>
                    <a:pt x="186690" y="52388"/>
                  </a:cubicBezTo>
                  <a:cubicBezTo>
                    <a:pt x="247650" y="52388"/>
                    <a:pt x="312420" y="99060"/>
                    <a:pt x="312420" y="181927"/>
                  </a:cubicBezTo>
                  <a:cubicBezTo>
                    <a:pt x="312420" y="265748"/>
                    <a:pt x="247650" y="312420"/>
                    <a:pt x="186690" y="312420"/>
                  </a:cubicBezTo>
                </a:path>
              </a:pathLst>
            </a:custGeom>
            <a:solidFill>
              <a:srgbClr val="004A77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DBC645E-78B1-89A4-C992-F1A755E80D48}"/>
                </a:ext>
              </a:extLst>
            </p:cNvPr>
            <p:cNvSpPr/>
            <p:nvPr/>
          </p:nvSpPr>
          <p:spPr>
            <a:xfrm>
              <a:off x="3026209" y="4807018"/>
              <a:ext cx="1451609" cy="420052"/>
            </a:xfrm>
            <a:custGeom>
              <a:avLst/>
              <a:gdLst>
                <a:gd name="csX0" fmla="*/ 999172 w 1451609"/>
                <a:gd name="csY0" fmla="*/ 199073 h 420052"/>
                <a:gd name="csX1" fmla="*/ 1000125 w 1451609"/>
                <a:gd name="csY1" fmla="*/ 295275 h 420052"/>
                <a:gd name="csX2" fmla="*/ 999172 w 1451609"/>
                <a:gd name="csY2" fmla="*/ 296228 h 420052"/>
                <a:gd name="csX3" fmla="*/ 913447 w 1451609"/>
                <a:gd name="csY3" fmla="*/ 198120 h 420052"/>
                <a:gd name="csX4" fmla="*/ 738188 w 1451609"/>
                <a:gd name="csY4" fmla="*/ 5715 h 420052"/>
                <a:gd name="csX5" fmla="*/ 695325 w 1451609"/>
                <a:gd name="csY5" fmla="*/ 5715 h 420052"/>
                <a:gd name="csX6" fmla="*/ 695325 w 1451609"/>
                <a:gd name="csY6" fmla="*/ 414337 h 420052"/>
                <a:gd name="csX7" fmla="*/ 757238 w 1451609"/>
                <a:gd name="csY7" fmla="*/ 414337 h 420052"/>
                <a:gd name="csX8" fmla="*/ 757238 w 1451609"/>
                <a:gd name="csY8" fmla="*/ 209550 h 420052"/>
                <a:gd name="csX9" fmla="*/ 756285 w 1451609"/>
                <a:gd name="csY9" fmla="*/ 106680 h 420052"/>
                <a:gd name="csX10" fmla="*/ 757238 w 1451609"/>
                <a:gd name="csY10" fmla="*/ 105728 h 420052"/>
                <a:gd name="csX11" fmla="*/ 851535 w 1451609"/>
                <a:gd name="csY11" fmla="*/ 213360 h 420052"/>
                <a:gd name="csX12" fmla="*/ 1004888 w 1451609"/>
                <a:gd name="csY12" fmla="*/ 381953 h 420052"/>
                <a:gd name="csX13" fmla="*/ 1061085 w 1451609"/>
                <a:gd name="csY13" fmla="*/ 414337 h 420052"/>
                <a:gd name="csX14" fmla="*/ 1061085 w 1451609"/>
                <a:gd name="csY14" fmla="*/ 414337 h 420052"/>
                <a:gd name="csX15" fmla="*/ 1061085 w 1451609"/>
                <a:gd name="csY15" fmla="*/ 5715 h 420052"/>
                <a:gd name="csX16" fmla="*/ 999172 w 1451609"/>
                <a:gd name="csY16" fmla="*/ 5715 h 420052"/>
                <a:gd name="csX17" fmla="*/ 999172 w 1451609"/>
                <a:gd name="csY17" fmla="*/ 199073 h 420052"/>
                <a:gd name="csX18" fmla="*/ 190500 w 1451609"/>
                <a:gd name="csY18" fmla="*/ 183833 h 420052"/>
                <a:gd name="csX19" fmla="*/ 228600 w 1451609"/>
                <a:gd name="csY19" fmla="*/ 112395 h 420052"/>
                <a:gd name="csX20" fmla="*/ 114300 w 1451609"/>
                <a:gd name="csY20" fmla="*/ 5715 h 420052"/>
                <a:gd name="csX21" fmla="*/ 0 w 1451609"/>
                <a:gd name="csY21" fmla="*/ 5715 h 420052"/>
                <a:gd name="csX22" fmla="*/ 0 w 1451609"/>
                <a:gd name="csY22" fmla="*/ 414337 h 420052"/>
                <a:gd name="csX23" fmla="*/ 132397 w 1451609"/>
                <a:gd name="csY23" fmla="*/ 414337 h 420052"/>
                <a:gd name="csX24" fmla="*/ 266700 w 1451609"/>
                <a:gd name="csY24" fmla="*/ 290512 h 420052"/>
                <a:gd name="csX25" fmla="*/ 190500 w 1451609"/>
                <a:gd name="csY25" fmla="*/ 183833 h 420052"/>
                <a:gd name="csX26" fmla="*/ 60960 w 1451609"/>
                <a:gd name="csY26" fmla="*/ 58103 h 420052"/>
                <a:gd name="csX27" fmla="*/ 102870 w 1451609"/>
                <a:gd name="csY27" fmla="*/ 58103 h 420052"/>
                <a:gd name="csX28" fmla="*/ 164782 w 1451609"/>
                <a:gd name="csY28" fmla="*/ 112395 h 420052"/>
                <a:gd name="csX29" fmla="*/ 102870 w 1451609"/>
                <a:gd name="csY29" fmla="*/ 165735 h 420052"/>
                <a:gd name="csX30" fmla="*/ 60960 w 1451609"/>
                <a:gd name="csY30" fmla="*/ 165735 h 420052"/>
                <a:gd name="csX31" fmla="*/ 60960 w 1451609"/>
                <a:gd name="csY31" fmla="*/ 58103 h 420052"/>
                <a:gd name="csX32" fmla="*/ 120015 w 1451609"/>
                <a:gd name="csY32" fmla="*/ 361950 h 420052"/>
                <a:gd name="csX33" fmla="*/ 61913 w 1451609"/>
                <a:gd name="csY33" fmla="*/ 361950 h 420052"/>
                <a:gd name="csX34" fmla="*/ 61913 w 1451609"/>
                <a:gd name="csY34" fmla="*/ 218123 h 420052"/>
                <a:gd name="csX35" fmla="*/ 120015 w 1451609"/>
                <a:gd name="csY35" fmla="*/ 218123 h 420052"/>
                <a:gd name="csX36" fmla="*/ 202882 w 1451609"/>
                <a:gd name="csY36" fmla="*/ 289560 h 420052"/>
                <a:gd name="csX37" fmla="*/ 120015 w 1451609"/>
                <a:gd name="csY37" fmla="*/ 361950 h 420052"/>
                <a:gd name="csX38" fmla="*/ 1273492 w 1451609"/>
                <a:gd name="csY38" fmla="*/ 207645 h 420052"/>
                <a:gd name="csX39" fmla="*/ 1443038 w 1451609"/>
                <a:gd name="csY39" fmla="*/ 5715 h 420052"/>
                <a:gd name="csX40" fmla="*/ 1342073 w 1451609"/>
                <a:gd name="csY40" fmla="*/ 40005 h 420052"/>
                <a:gd name="csX41" fmla="*/ 1209675 w 1451609"/>
                <a:gd name="csY41" fmla="*/ 199073 h 420052"/>
                <a:gd name="csX42" fmla="*/ 1209675 w 1451609"/>
                <a:gd name="csY42" fmla="*/ 5715 h 420052"/>
                <a:gd name="csX43" fmla="*/ 1147763 w 1451609"/>
                <a:gd name="csY43" fmla="*/ 5715 h 420052"/>
                <a:gd name="csX44" fmla="*/ 1147763 w 1451609"/>
                <a:gd name="csY44" fmla="*/ 414337 h 420052"/>
                <a:gd name="csX45" fmla="*/ 1150620 w 1451609"/>
                <a:gd name="csY45" fmla="*/ 414337 h 420052"/>
                <a:gd name="csX46" fmla="*/ 1209675 w 1451609"/>
                <a:gd name="csY46" fmla="*/ 414337 h 420052"/>
                <a:gd name="csX47" fmla="*/ 1209675 w 1451609"/>
                <a:gd name="csY47" fmla="*/ 370523 h 420052"/>
                <a:gd name="csX48" fmla="*/ 1209675 w 1451609"/>
                <a:gd name="csY48" fmla="*/ 364808 h 420052"/>
                <a:gd name="csX49" fmla="*/ 1209675 w 1451609"/>
                <a:gd name="csY49" fmla="*/ 222885 h 420052"/>
                <a:gd name="csX50" fmla="*/ 1339215 w 1451609"/>
                <a:gd name="csY50" fmla="*/ 376237 h 420052"/>
                <a:gd name="csX51" fmla="*/ 1441132 w 1451609"/>
                <a:gd name="csY51" fmla="*/ 420053 h 420052"/>
                <a:gd name="csX52" fmla="*/ 1451610 w 1451609"/>
                <a:gd name="csY52" fmla="*/ 420053 h 420052"/>
                <a:gd name="csX53" fmla="*/ 1273492 w 1451609"/>
                <a:gd name="csY53" fmla="*/ 207645 h 420052"/>
                <a:gd name="csX54" fmla="*/ 453390 w 1451609"/>
                <a:gd name="csY54" fmla="*/ 0 h 420052"/>
                <a:gd name="csX55" fmla="*/ 279082 w 1451609"/>
                <a:gd name="csY55" fmla="*/ 414337 h 420052"/>
                <a:gd name="csX56" fmla="*/ 282892 w 1451609"/>
                <a:gd name="csY56" fmla="*/ 414337 h 420052"/>
                <a:gd name="csX57" fmla="*/ 352425 w 1451609"/>
                <a:gd name="csY57" fmla="*/ 383858 h 420052"/>
                <a:gd name="csX58" fmla="*/ 383857 w 1451609"/>
                <a:gd name="csY58" fmla="*/ 308610 h 420052"/>
                <a:gd name="csX59" fmla="*/ 542925 w 1451609"/>
                <a:gd name="csY59" fmla="*/ 308610 h 420052"/>
                <a:gd name="csX60" fmla="*/ 571500 w 1451609"/>
                <a:gd name="csY60" fmla="*/ 376237 h 420052"/>
                <a:gd name="csX61" fmla="*/ 648652 w 1451609"/>
                <a:gd name="csY61" fmla="*/ 414337 h 420052"/>
                <a:gd name="csX62" fmla="*/ 649605 w 1451609"/>
                <a:gd name="csY62" fmla="*/ 414337 h 420052"/>
                <a:gd name="csX63" fmla="*/ 475297 w 1451609"/>
                <a:gd name="csY63" fmla="*/ 0 h 420052"/>
                <a:gd name="csX64" fmla="*/ 453390 w 1451609"/>
                <a:gd name="csY64" fmla="*/ 0 h 420052"/>
                <a:gd name="csX65" fmla="*/ 521970 w 1451609"/>
                <a:gd name="csY65" fmla="*/ 259080 h 420052"/>
                <a:gd name="csX66" fmla="*/ 405765 w 1451609"/>
                <a:gd name="csY66" fmla="*/ 259080 h 420052"/>
                <a:gd name="csX67" fmla="*/ 463867 w 1451609"/>
                <a:gd name="csY67" fmla="*/ 109538 h 420052"/>
                <a:gd name="csX68" fmla="*/ 464820 w 1451609"/>
                <a:gd name="csY68" fmla="*/ 109538 h 420052"/>
                <a:gd name="csX69" fmla="*/ 521970 w 1451609"/>
                <a:gd name="csY69" fmla="*/ 259080 h 420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</a:cxnLst>
              <a:rect l="l" t="t" r="r" b="b"/>
              <a:pathLst>
                <a:path w="1451609" h="420052">
                  <a:moveTo>
                    <a:pt x="999172" y="199073"/>
                  </a:moveTo>
                  <a:cubicBezTo>
                    <a:pt x="999172" y="228600"/>
                    <a:pt x="999172" y="263843"/>
                    <a:pt x="1000125" y="295275"/>
                  </a:cubicBezTo>
                  <a:lnTo>
                    <a:pt x="999172" y="296228"/>
                  </a:lnTo>
                  <a:cubicBezTo>
                    <a:pt x="974407" y="265748"/>
                    <a:pt x="937260" y="224790"/>
                    <a:pt x="913447" y="198120"/>
                  </a:cubicBezTo>
                  <a:lnTo>
                    <a:pt x="738188" y="5715"/>
                  </a:lnTo>
                  <a:lnTo>
                    <a:pt x="695325" y="5715"/>
                  </a:lnTo>
                  <a:lnTo>
                    <a:pt x="695325" y="414337"/>
                  </a:lnTo>
                  <a:lnTo>
                    <a:pt x="757238" y="414337"/>
                  </a:lnTo>
                  <a:lnTo>
                    <a:pt x="757238" y="209550"/>
                  </a:lnTo>
                  <a:cubicBezTo>
                    <a:pt x="757238" y="179070"/>
                    <a:pt x="757238" y="143828"/>
                    <a:pt x="756285" y="106680"/>
                  </a:cubicBezTo>
                  <a:lnTo>
                    <a:pt x="757238" y="105728"/>
                  </a:lnTo>
                  <a:cubicBezTo>
                    <a:pt x="785813" y="139065"/>
                    <a:pt x="821055" y="180023"/>
                    <a:pt x="851535" y="213360"/>
                  </a:cubicBezTo>
                  <a:cubicBezTo>
                    <a:pt x="851535" y="213360"/>
                    <a:pt x="928688" y="301943"/>
                    <a:pt x="1004888" y="381953"/>
                  </a:cubicBezTo>
                  <a:cubicBezTo>
                    <a:pt x="1022032" y="400050"/>
                    <a:pt x="1044893" y="414337"/>
                    <a:pt x="1061085" y="414337"/>
                  </a:cubicBezTo>
                  <a:lnTo>
                    <a:pt x="1061085" y="414337"/>
                  </a:lnTo>
                  <a:lnTo>
                    <a:pt x="1061085" y="5715"/>
                  </a:lnTo>
                  <a:lnTo>
                    <a:pt x="999172" y="5715"/>
                  </a:lnTo>
                  <a:lnTo>
                    <a:pt x="999172" y="199073"/>
                  </a:lnTo>
                  <a:close/>
                  <a:moveTo>
                    <a:pt x="190500" y="183833"/>
                  </a:moveTo>
                  <a:cubicBezTo>
                    <a:pt x="214313" y="173355"/>
                    <a:pt x="228600" y="141923"/>
                    <a:pt x="228600" y="112395"/>
                  </a:cubicBezTo>
                  <a:cubicBezTo>
                    <a:pt x="228600" y="40957"/>
                    <a:pt x="168592" y="5715"/>
                    <a:pt x="114300" y="5715"/>
                  </a:cubicBezTo>
                  <a:lnTo>
                    <a:pt x="0" y="5715"/>
                  </a:lnTo>
                  <a:lnTo>
                    <a:pt x="0" y="414337"/>
                  </a:lnTo>
                  <a:lnTo>
                    <a:pt x="132397" y="414337"/>
                  </a:lnTo>
                  <a:cubicBezTo>
                    <a:pt x="196215" y="414337"/>
                    <a:pt x="266700" y="374333"/>
                    <a:pt x="266700" y="290512"/>
                  </a:cubicBezTo>
                  <a:cubicBezTo>
                    <a:pt x="266700" y="237173"/>
                    <a:pt x="228600" y="195263"/>
                    <a:pt x="190500" y="183833"/>
                  </a:cubicBezTo>
                  <a:moveTo>
                    <a:pt x="60960" y="58103"/>
                  </a:moveTo>
                  <a:lnTo>
                    <a:pt x="102870" y="58103"/>
                  </a:lnTo>
                  <a:cubicBezTo>
                    <a:pt x="136207" y="58103"/>
                    <a:pt x="164782" y="74295"/>
                    <a:pt x="164782" y="112395"/>
                  </a:cubicBezTo>
                  <a:cubicBezTo>
                    <a:pt x="164782" y="150495"/>
                    <a:pt x="136207" y="165735"/>
                    <a:pt x="102870" y="165735"/>
                  </a:cubicBezTo>
                  <a:lnTo>
                    <a:pt x="60960" y="165735"/>
                  </a:lnTo>
                  <a:lnTo>
                    <a:pt x="60960" y="58103"/>
                  </a:lnTo>
                  <a:close/>
                  <a:moveTo>
                    <a:pt x="120015" y="361950"/>
                  </a:moveTo>
                  <a:lnTo>
                    <a:pt x="61913" y="361950"/>
                  </a:lnTo>
                  <a:lnTo>
                    <a:pt x="61913" y="218123"/>
                  </a:lnTo>
                  <a:lnTo>
                    <a:pt x="120015" y="218123"/>
                  </a:lnTo>
                  <a:cubicBezTo>
                    <a:pt x="162877" y="218123"/>
                    <a:pt x="202882" y="240983"/>
                    <a:pt x="202882" y="289560"/>
                  </a:cubicBezTo>
                  <a:cubicBezTo>
                    <a:pt x="202882" y="340043"/>
                    <a:pt x="162877" y="361950"/>
                    <a:pt x="120015" y="361950"/>
                  </a:cubicBezTo>
                  <a:moveTo>
                    <a:pt x="1273492" y="207645"/>
                  </a:moveTo>
                  <a:lnTo>
                    <a:pt x="1443038" y="5715"/>
                  </a:lnTo>
                  <a:cubicBezTo>
                    <a:pt x="1422082" y="3810"/>
                    <a:pt x="1375410" y="2857"/>
                    <a:pt x="1342073" y="40005"/>
                  </a:cubicBezTo>
                  <a:cubicBezTo>
                    <a:pt x="1302067" y="84773"/>
                    <a:pt x="1209675" y="199073"/>
                    <a:pt x="1209675" y="199073"/>
                  </a:cubicBezTo>
                  <a:lnTo>
                    <a:pt x="1209675" y="5715"/>
                  </a:lnTo>
                  <a:lnTo>
                    <a:pt x="1147763" y="5715"/>
                  </a:lnTo>
                  <a:lnTo>
                    <a:pt x="1147763" y="414337"/>
                  </a:lnTo>
                  <a:lnTo>
                    <a:pt x="1150620" y="414337"/>
                  </a:lnTo>
                  <a:lnTo>
                    <a:pt x="1209675" y="414337"/>
                  </a:lnTo>
                  <a:lnTo>
                    <a:pt x="1209675" y="370523"/>
                  </a:lnTo>
                  <a:cubicBezTo>
                    <a:pt x="1209675" y="368618"/>
                    <a:pt x="1209675" y="366712"/>
                    <a:pt x="1209675" y="364808"/>
                  </a:cubicBezTo>
                  <a:lnTo>
                    <a:pt x="1209675" y="222885"/>
                  </a:lnTo>
                  <a:cubicBezTo>
                    <a:pt x="1209675" y="222885"/>
                    <a:pt x="1302067" y="333375"/>
                    <a:pt x="1339215" y="376237"/>
                  </a:cubicBezTo>
                  <a:cubicBezTo>
                    <a:pt x="1367790" y="409575"/>
                    <a:pt x="1402080" y="420053"/>
                    <a:pt x="1441132" y="420053"/>
                  </a:cubicBezTo>
                  <a:lnTo>
                    <a:pt x="1451610" y="420053"/>
                  </a:lnTo>
                  <a:lnTo>
                    <a:pt x="1273492" y="207645"/>
                  </a:lnTo>
                  <a:close/>
                  <a:moveTo>
                    <a:pt x="453390" y="0"/>
                  </a:moveTo>
                  <a:lnTo>
                    <a:pt x="279082" y="414337"/>
                  </a:lnTo>
                  <a:lnTo>
                    <a:pt x="282892" y="414337"/>
                  </a:lnTo>
                  <a:cubicBezTo>
                    <a:pt x="310515" y="414337"/>
                    <a:pt x="340995" y="407670"/>
                    <a:pt x="352425" y="383858"/>
                  </a:cubicBezTo>
                  <a:cubicBezTo>
                    <a:pt x="361950" y="365760"/>
                    <a:pt x="383857" y="308610"/>
                    <a:pt x="383857" y="308610"/>
                  </a:cubicBezTo>
                  <a:lnTo>
                    <a:pt x="542925" y="308610"/>
                  </a:lnTo>
                  <a:cubicBezTo>
                    <a:pt x="542925" y="308610"/>
                    <a:pt x="562927" y="360045"/>
                    <a:pt x="571500" y="376237"/>
                  </a:cubicBezTo>
                  <a:cubicBezTo>
                    <a:pt x="581977" y="395287"/>
                    <a:pt x="597218" y="414337"/>
                    <a:pt x="648652" y="414337"/>
                  </a:cubicBezTo>
                  <a:lnTo>
                    <a:pt x="649605" y="414337"/>
                  </a:lnTo>
                  <a:lnTo>
                    <a:pt x="475297" y="0"/>
                  </a:lnTo>
                  <a:lnTo>
                    <a:pt x="453390" y="0"/>
                  </a:lnTo>
                  <a:close/>
                  <a:moveTo>
                    <a:pt x="521970" y="259080"/>
                  </a:moveTo>
                  <a:lnTo>
                    <a:pt x="405765" y="259080"/>
                  </a:lnTo>
                  <a:cubicBezTo>
                    <a:pt x="405765" y="259080"/>
                    <a:pt x="463867" y="108585"/>
                    <a:pt x="463867" y="109538"/>
                  </a:cubicBezTo>
                  <a:lnTo>
                    <a:pt x="464820" y="109538"/>
                  </a:lnTo>
                  <a:cubicBezTo>
                    <a:pt x="463867" y="109538"/>
                    <a:pt x="521970" y="259080"/>
                    <a:pt x="521970" y="259080"/>
                  </a:cubicBezTo>
                </a:path>
              </a:pathLst>
            </a:custGeom>
            <a:solidFill>
              <a:srgbClr val="004A77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77BE68E-71C1-4679-24D4-1CD76825E8CE}"/>
                </a:ext>
              </a:extLst>
            </p:cNvPr>
            <p:cNvSpPr/>
            <p:nvPr/>
          </p:nvSpPr>
          <p:spPr>
            <a:xfrm>
              <a:off x="1725094" y="4793683"/>
              <a:ext cx="368617" cy="433387"/>
            </a:xfrm>
            <a:custGeom>
              <a:avLst/>
              <a:gdLst>
                <a:gd name="csX0" fmla="*/ 0 w 368617"/>
                <a:gd name="csY0" fmla="*/ 0 h 433387"/>
                <a:gd name="csX1" fmla="*/ 0 w 368617"/>
                <a:gd name="csY1" fmla="*/ 313373 h 433387"/>
                <a:gd name="csX2" fmla="*/ 122873 w 368617"/>
                <a:gd name="csY2" fmla="*/ 433388 h 433387"/>
                <a:gd name="csX3" fmla="*/ 368618 w 368617"/>
                <a:gd name="csY3" fmla="*/ 433388 h 433387"/>
                <a:gd name="csX4" fmla="*/ 95250 w 368617"/>
                <a:gd name="csY4" fmla="*/ 95250 h 433387"/>
                <a:gd name="csX5" fmla="*/ 0 w 368617"/>
                <a:gd name="csY5" fmla="*/ 0 h 4333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68617" h="433387">
                  <a:moveTo>
                    <a:pt x="0" y="0"/>
                  </a:moveTo>
                  <a:lnTo>
                    <a:pt x="0" y="313373"/>
                  </a:lnTo>
                  <a:cubicBezTo>
                    <a:pt x="0" y="313373"/>
                    <a:pt x="5715" y="433388"/>
                    <a:pt x="122873" y="433388"/>
                  </a:cubicBezTo>
                  <a:lnTo>
                    <a:pt x="368618" y="433388"/>
                  </a:lnTo>
                  <a:lnTo>
                    <a:pt x="9525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7C2B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1B266FB-74D0-A8EB-56C8-0774F08FCD1F}"/>
                </a:ext>
              </a:extLst>
            </p:cNvPr>
            <p:cNvSpPr/>
            <p:nvPr/>
          </p:nvSpPr>
          <p:spPr>
            <a:xfrm>
              <a:off x="1725094" y="4793683"/>
              <a:ext cx="433387" cy="368617"/>
            </a:xfrm>
            <a:custGeom>
              <a:avLst/>
              <a:gdLst>
                <a:gd name="csX0" fmla="*/ 0 w 433387"/>
                <a:gd name="csY0" fmla="*/ 0 h 368617"/>
                <a:gd name="csX1" fmla="*/ 313373 w 433387"/>
                <a:gd name="csY1" fmla="*/ 0 h 368617"/>
                <a:gd name="csX2" fmla="*/ 433388 w 433387"/>
                <a:gd name="csY2" fmla="*/ 122873 h 368617"/>
                <a:gd name="csX3" fmla="*/ 433388 w 433387"/>
                <a:gd name="csY3" fmla="*/ 368618 h 368617"/>
                <a:gd name="csX4" fmla="*/ 95250 w 433387"/>
                <a:gd name="csY4" fmla="*/ 95250 h 368617"/>
                <a:gd name="csX5" fmla="*/ 0 w 433387"/>
                <a:gd name="csY5" fmla="*/ 0 h 3686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33387" h="368617">
                  <a:moveTo>
                    <a:pt x="0" y="0"/>
                  </a:moveTo>
                  <a:lnTo>
                    <a:pt x="313373" y="0"/>
                  </a:lnTo>
                  <a:cubicBezTo>
                    <a:pt x="313373" y="0"/>
                    <a:pt x="433388" y="5715"/>
                    <a:pt x="433388" y="122873"/>
                  </a:cubicBezTo>
                  <a:cubicBezTo>
                    <a:pt x="433388" y="240030"/>
                    <a:pt x="433388" y="368618"/>
                    <a:pt x="433388" y="368618"/>
                  </a:cubicBezTo>
                  <a:lnTo>
                    <a:pt x="9525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B36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65B704E-8F20-11A4-93FE-13FA520356B9}"/>
                </a:ext>
              </a:extLst>
            </p:cNvPr>
            <p:cNvSpPr/>
            <p:nvPr/>
          </p:nvSpPr>
          <p:spPr>
            <a:xfrm>
              <a:off x="4477819" y="4811781"/>
              <a:ext cx="54344" cy="53340"/>
            </a:xfrm>
            <a:custGeom>
              <a:avLst/>
              <a:gdLst>
                <a:gd name="csX0" fmla="*/ 27622 w 54344"/>
                <a:gd name="csY0" fmla="*/ 53340 h 53340"/>
                <a:gd name="csX1" fmla="*/ 0 w 54344"/>
                <a:gd name="csY1" fmla="*/ 26670 h 53340"/>
                <a:gd name="csX2" fmla="*/ 27622 w 54344"/>
                <a:gd name="csY2" fmla="*/ 0 h 53340"/>
                <a:gd name="csX3" fmla="*/ 54293 w 54344"/>
                <a:gd name="csY3" fmla="*/ 26670 h 53340"/>
                <a:gd name="csX4" fmla="*/ 27622 w 54344"/>
                <a:gd name="csY4" fmla="*/ 53340 h 53340"/>
                <a:gd name="csX5" fmla="*/ 27622 w 54344"/>
                <a:gd name="csY5" fmla="*/ 5715 h 53340"/>
                <a:gd name="csX6" fmla="*/ 6668 w 54344"/>
                <a:gd name="csY6" fmla="*/ 27622 h 53340"/>
                <a:gd name="csX7" fmla="*/ 27622 w 54344"/>
                <a:gd name="csY7" fmla="*/ 49530 h 53340"/>
                <a:gd name="csX8" fmla="*/ 48578 w 54344"/>
                <a:gd name="csY8" fmla="*/ 27622 h 53340"/>
                <a:gd name="csX9" fmla="*/ 27622 w 54344"/>
                <a:gd name="csY9" fmla="*/ 5715 h 53340"/>
                <a:gd name="csX10" fmla="*/ 22860 w 54344"/>
                <a:gd name="csY10" fmla="*/ 41910 h 53340"/>
                <a:gd name="csX11" fmla="*/ 18097 w 54344"/>
                <a:gd name="csY11" fmla="*/ 41910 h 53340"/>
                <a:gd name="csX12" fmla="*/ 18097 w 54344"/>
                <a:gd name="csY12" fmla="*/ 13335 h 53340"/>
                <a:gd name="csX13" fmla="*/ 29528 w 54344"/>
                <a:gd name="csY13" fmla="*/ 13335 h 53340"/>
                <a:gd name="csX14" fmla="*/ 40957 w 54344"/>
                <a:gd name="csY14" fmla="*/ 21907 h 53340"/>
                <a:gd name="csX15" fmla="*/ 33338 w 54344"/>
                <a:gd name="csY15" fmla="*/ 29527 h 53340"/>
                <a:gd name="csX16" fmla="*/ 41910 w 54344"/>
                <a:gd name="csY16" fmla="*/ 41910 h 53340"/>
                <a:gd name="csX17" fmla="*/ 36195 w 54344"/>
                <a:gd name="csY17" fmla="*/ 41910 h 53340"/>
                <a:gd name="csX18" fmla="*/ 28575 w 54344"/>
                <a:gd name="csY18" fmla="*/ 29527 h 53340"/>
                <a:gd name="csX19" fmla="*/ 23813 w 54344"/>
                <a:gd name="csY19" fmla="*/ 29527 h 53340"/>
                <a:gd name="csX20" fmla="*/ 23813 w 54344"/>
                <a:gd name="csY20" fmla="*/ 41910 h 53340"/>
                <a:gd name="csX21" fmla="*/ 28575 w 54344"/>
                <a:gd name="csY21" fmla="*/ 25717 h 53340"/>
                <a:gd name="csX22" fmla="*/ 35243 w 54344"/>
                <a:gd name="csY22" fmla="*/ 20955 h 53340"/>
                <a:gd name="csX23" fmla="*/ 28575 w 54344"/>
                <a:gd name="csY23" fmla="*/ 17145 h 53340"/>
                <a:gd name="csX24" fmla="*/ 22860 w 54344"/>
                <a:gd name="csY24" fmla="*/ 17145 h 53340"/>
                <a:gd name="csX25" fmla="*/ 22860 w 54344"/>
                <a:gd name="csY25" fmla="*/ 25717 h 53340"/>
                <a:gd name="csX26" fmla="*/ 28575 w 54344"/>
                <a:gd name="csY26" fmla="*/ 25717 h 533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54344" h="53340">
                  <a:moveTo>
                    <a:pt x="27622" y="53340"/>
                  </a:moveTo>
                  <a:cubicBezTo>
                    <a:pt x="11430" y="53340"/>
                    <a:pt x="0" y="41910"/>
                    <a:pt x="0" y="26670"/>
                  </a:cubicBezTo>
                  <a:cubicBezTo>
                    <a:pt x="0" y="10477"/>
                    <a:pt x="12382" y="0"/>
                    <a:pt x="27622" y="0"/>
                  </a:cubicBezTo>
                  <a:cubicBezTo>
                    <a:pt x="41910" y="0"/>
                    <a:pt x="54293" y="10477"/>
                    <a:pt x="54293" y="26670"/>
                  </a:cubicBezTo>
                  <a:cubicBezTo>
                    <a:pt x="55245" y="42863"/>
                    <a:pt x="42863" y="53340"/>
                    <a:pt x="27622" y="53340"/>
                  </a:cubicBezTo>
                  <a:close/>
                  <a:moveTo>
                    <a:pt x="27622" y="5715"/>
                  </a:moveTo>
                  <a:cubicBezTo>
                    <a:pt x="15240" y="5715"/>
                    <a:pt x="6668" y="14288"/>
                    <a:pt x="6668" y="27622"/>
                  </a:cubicBezTo>
                  <a:cubicBezTo>
                    <a:pt x="6668" y="40005"/>
                    <a:pt x="15240" y="49530"/>
                    <a:pt x="27622" y="49530"/>
                  </a:cubicBezTo>
                  <a:cubicBezTo>
                    <a:pt x="39053" y="49530"/>
                    <a:pt x="48578" y="40957"/>
                    <a:pt x="48578" y="27622"/>
                  </a:cubicBezTo>
                  <a:cubicBezTo>
                    <a:pt x="49530" y="14288"/>
                    <a:pt x="40005" y="5715"/>
                    <a:pt x="27622" y="5715"/>
                  </a:cubicBezTo>
                  <a:close/>
                  <a:moveTo>
                    <a:pt x="22860" y="41910"/>
                  </a:moveTo>
                  <a:lnTo>
                    <a:pt x="18097" y="41910"/>
                  </a:lnTo>
                  <a:lnTo>
                    <a:pt x="18097" y="13335"/>
                  </a:lnTo>
                  <a:lnTo>
                    <a:pt x="29528" y="13335"/>
                  </a:lnTo>
                  <a:cubicBezTo>
                    <a:pt x="37147" y="13335"/>
                    <a:pt x="40957" y="16192"/>
                    <a:pt x="40957" y="21907"/>
                  </a:cubicBezTo>
                  <a:cubicBezTo>
                    <a:pt x="40957" y="27622"/>
                    <a:pt x="37147" y="29527"/>
                    <a:pt x="33338" y="29527"/>
                  </a:cubicBezTo>
                  <a:lnTo>
                    <a:pt x="41910" y="41910"/>
                  </a:lnTo>
                  <a:lnTo>
                    <a:pt x="36195" y="41910"/>
                  </a:lnTo>
                  <a:lnTo>
                    <a:pt x="28575" y="29527"/>
                  </a:lnTo>
                  <a:lnTo>
                    <a:pt x="23813" y="29527"/>
                  </a:lnTo>
                  <a:lnTo>
                    <a:pt x="23813" y="41910"/>
                  </a:lnTo>
                  <a:close/>
                  <a:moveTo>
                    <a:pt x="28575" y="25717"/>
                  </a:moveTo>
                  <a:cubicBezTo>
                    <a:pt x="32385" y="25717"/>
                    <a:pt x="35243" y="25717"/>
                    <a:pt x="35243" y="20955"/>
                  </a:cubicBezTo>
                  <a:cubicBezTo>
                    <a:pt x="35243" y="17145"/>
                    <a:pt x="31432" y="17145"/>
                    <a:pt x="28575" y="17145"/>
                  </a:cubicBezTo>
                  <a:lnTo>
                    <a:pt x="22860" y="17145"/>
                  </a:lnTo>
                  <a:lnTo>
                    <a:pt x="22860" y="25717"/>
                  </a:lnTo>
                  <a:lnTo>
                    <a:pt x="28575" y="25717"/>
                  </a:lnTo>
                  <a:close/>
                </a:path>
              </a:pathLst>
            </a:custGeom>
            <a:solidFill>
              <a:srgbClr val="004A77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48" name="Graphic 47">
            <a:extLst>
              <a:ext uri="{FF2B5EF4-FFF2-40B4-BE49-F238E27FC236}">
                <a16:creationId xmlns:a16="http://schemas.microsoft.com/office/drawing/2014/main" id="{106AEDDF-C576-D1E7-E5C8-E8C829AA12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4642" y="3092475"/>
            <a:ext cx="655203" cy="498557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26A7AD81-7871-2233-F07B-4ACD8C56D1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9902" y="3704426"/>
            <a:ext cx="1476375" cy="4000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63B53E66-C011-0097-E579-8CDB631803F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0052" y="4193818"/>
            <a:ext cx="466378" cy="4663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4AB242-6D6A-2EA5-1389-254E574C18E0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0" t="23513" r="6287" b="22347"/>
          <a:stretch>
            <a:fillRect/>
          </a:stretch>
        </p:blipFill>
        <p:spPr>
          <a:xfrm>
            <a:off x="4511830" y="4760913"/>
            <a:ext cx="1290992" cy="378441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0C1FBC09-7F32-68B6-3E0B-B62393D862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61466" y="5406549"/>
            <a:ext cx="1134286" cy="194955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35A0B8D-F726-AD45-B1D6-7DC099761A29}"/>
              </a:ext>
            </a:extLst>
          </p:cNvPr>
          <p:cNvSpPr txBox="1"/>
          <p:nvPr/>
        </p:nvSpPr>
        <p:spPr>
          <a:xfrm>
            <a:off x="4506430" y="4294535"/>
            <a:ext cx="21710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">
              <a:buNone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latin typeface="+mj-lt"/>
              </a:rPr>
              <a:t>ASAP Elearning Solutions Ltd.</a:t>
            </a:r>
          </a:p>
        </p:txBody>
      </p:sp>
    </p:spTree>
    <p:extLst>
      <p:ext uri="{BB962C8B-B14F-4D97-AF65-F5344CB8AC3E}">
        <p14:creationId xmlns:p14="http://schemas.microsoft.com/office/powerpoint/2010/main" val="944903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A30A9-2A23-AA6B-6C4D-2FB7BD990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2CAC5CD-AE87-2B13-B4FE-6CDE47AEE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FY’26 - Initiatives</a:t>
            </a:r>
            <a:endParaRPr lang="en-IN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05E7D1D7-039F-3B8B-AAD0-258D257A71B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6838" y="81280"/>
            <a:ext cx="5667163" cy="6705600"/>
          </a:xfrm>
          <a:prstGeom prst="roundRect">
            <a:avLst>
              <a:gd name="adj" fmla="val 1608"/>
            </a:avLst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4E11F2F-4D55-D068-F85B-5F28D63E4CC2}"/>
              </a:ext>
            </a:extLst>
          </p:cNvPr>
          <p:cNvSpPr/>
          <p:nvPr/>
        </p:nvSpPr>
        <p:spPr>
          <a:xfrm>
            <a:off x="495300" y="941289"/>
            <a:ext cx="5514976" cy="270073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1" defTabSz="914379">
              <a:spcAft>
                <a:spcPts val="1200"/>
              </a:spcAft>
              <a:defRPr/>
            </a:pPr>
            <a:r>
              <a:rPr lang="en-US" sz="160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Automation</a:t>
            </a:r>
            <a:endParaRPr lang="en-US" altLang="en-US" sz="2400">
              <a:solidFill>
                <a:schemeClr val="tx2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  <a:p>
            <a:pPr marL="285750" lvl="1" indent="-174625" defTabSz="914379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Adoption of client platforms like Ask AT&amp;T</a:t>
            </a:r>
          </a:p>
          <a:p>
            <a:pPr marL="285750" lvl="1" indent="-174625" defTabSz="914379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Automated storyboard-to-development workflows</a:t>
            </a:r>
          </a:p>
          <a:p>
            <a:pPr marL="285750" lvl="1" indent="-174625" defTabSz="914379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Template-driven rapid course development</a:t>
            </a:r>
          </a:p>
          <a:p>
            <a:pPr marL="285750" lvl="1" indent="-174625" defTabSz="914379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Automated quality checks and review cycles</a:t>
            </a:r>
          </a:p>
          <a:p>
            <a:pPr marL="285750" lvl="1" indent="-174625" defTabSz="914379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Script-based publishing and LMS packaging</a:t>
            </a:r>
          </a:p>
          <a:p>
            <a:pPr marL="285750" lvl="1" indent="-174625" defTabSz="914379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AI-driven voiceover and media generation</a:t>
            </a:r>
          </a:p>
          <a:p>
            <a:pPr marL="285750" lvl="1" indent="-174625" defTabSz="914379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Automated content conversion from legacy formats</a:t>
            </a:r>
          </a:p>
          <a:p>
            <a:pPr marL="285750" lvl="1" indent="-174625" defTabSz="914379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Reduced manual effort and improved turnaround time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CECE88-6503-1964-519D-854BE8046EB5}"/>
              </a:ext>
            </a:extLst>
          </p:cNvPr>
          <p:cNvSpPr/>
          <p:nvPr/>
        </p:nvSpPr>
        <p:spPr>
          <a:xfrm>
            <a:off x="495300" y="3920958"/>
            <a:ext cx="5514976" cy="21159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1" defTabSz="914379" fontAlgn="base">
              <a:spcBef>
                <a:spcPct val="0"/>
              </a:spcBef>
              <a:spcAft>
                <a:spcPts val="1200"/>
              </a:spcAft>
              <a:defRPr/>
            </a:pPr>
            <a:r>
              <a:rPr lang="en-US" sz="160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AR/VR/XR &amp; AI Capabilities Built</a:t>
            </a:r>
            <a:endParaRPr lang="en-US" altLang="en-US" sz="1600">
              <a:solidFill>
                <a:schemeClr val="tx2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  <a:p>
            <a:pPr marL="285750" lvl="1" indent="-174625" defTabSz="914379" fontAlgn="base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Immersive XR learning solutions for complex training scenarios</a:t>
            </a:r>
          </a:p>
          <a:p>
            <a:pPr marL="285750" lvl="1" indent="-174625" defTabSz="914379" fontAlgn="base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Interactive simulations for experiential learning</a:t>
            </a:r>
          </a:p>
          <a:p>
            <a:pPr marL="285750" lvl="1" indent="-174625" defTabSz="914379" fontAlgn="base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AI-powered content transformation and modernization</a:t>
            </a:r>
          </a:p>
          <a:p>
            <a:pPr marL="285750" lvl="1" indent="-174625" defTabSz="914379" fontAlgn="base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AI-assisted image, audio, and video generation</a:t>
            </a:r>
          </a:p>
          <a:p>
            <a:pPr marL="285750" lvl="1" indent="-174625" defTabSz="914379" fontAlgn="base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Microlearning and adaptive learning framework pilots</a:t>
            </a:r>
          </a:p>
          <a:p>
            <a:pPr marL="285750" lvl="1" indent="-174625" defTabSz="914379" fontAlgn="base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Differentiated innovation-led solution positioning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8F8CC80-390D-AFCD-B25C-FF2C27B589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51519" y="224362"/>
            <a:ext cx="965738" cy="18022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20E0844-8077-92C8-A13F-63212482C2D5}"/>
              </a:ext>
            </a:extLst>
          </p:cNvPr>
          <p:cNvSpPr txBox="1">
            <a:spLocks/>
          </p:cNvSpPr>
          <p:nvPr/>
        </p:nvSpPr>
        <p:spPr>
          <a:xfrm>
            <a:off x="11511955" y="6414873"/>
            <a:ext cx="434699" cy="38722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CEB30C7-79E1-48E1-AF34-6C4EB7478725}" type="slidenum">
              <a:rPr lang="en-IN" sz="9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 algn="r"/>
              <a:t>6</a:t>
            </a:fld>
            <a:endParaRPr lang="en-IN" sz="9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56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74076-AEC1-D42A-79E8-B8CFB2646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Growth Plan</a:t>
            </a: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9145020D-A542-F5B9-07CA-1F0F6053E95F}"/>
              </a:ext>
            </a:extLst>
          </p:cNvPr>
          <p:cNvSpPr/>
          <p:nvPr/>
        </p:nvSpPr>
        <p:spPr>
          <a:xfrm>
            <a:off x="4455103" y="1499163"/>
            <a:ext cx="3281794" cy="4383477"/>
          </a:xfrm>
          <a:prstGeom prst="roundRect">
            <a:avLst>
              <a:gd name="adj" fmla="val 3517"/>
            </a:avLst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200" rtlCol="0" anchor="t"/>
          <a:lstStyle/>
          <a:p>
            <a:pPr marL="285750" lvl="1" indent="-174625" defTabSz="914379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Large clients such as AT&amp;T, Walmart, Workiva, PG&amp;E, PwC, Honeywell, and KPMG have declined.</a:t>
            </a:r>
          </a:p>
          <a:p>
            <a:pPr marL="285750" lvl="1" indent="-174625" defTabSz="914379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Client budget constraints and phased project approvals</a:t>
            </a:r>
          </a:p>
          <a:p>
            <a:pPr marL="285750" lvl="1" indent="-174625" defTabSz="914379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Delayed conversion of large RFP opportunities</a:t>
            </a:r>
          </a:p>
          <a:p>
            <a:pPr marL="285750" lvl="1" indent="-174625" defTabSz="914379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Shift from large fixed projects to smaller engagements</a:t>
            </a:r>
          </a:p>
          <a:p>
            <a:pPr marL="285750" lvl="1" indent="-174625" defTabSz="914379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Increased pricing pressure and competition</a:t>
            </a:r>
          </a:p>
          <a:p>
            <a:pPr marL="285750" lvl="1" indent="-174625" defTabSz="914379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Upskilling requirement for emerging technologies</a:t>
            </a:r>
          </a:p>
        </p:txBody>
      </p:sp>
      <p:sp>
        <p:nvSpPr>
          <p:cNvPr id="8" name="Rounded Rectangle 1">
            <a:extLst>
              <a:ext uri="{FF2B5EF4-FFF2-40B4-BE49-F238E27FC236}">
                <a16:creationId xmlns:a16="http://schemas.microsoft.com/office/drawing/2014/main" id="{BA7CB6E2-58BB-8AF1-862B-A114CA9276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350328" y="1214683"/>
            <a:ext cx="3491345" cy="600075"/>
          </a:xfrm>
          <a:prstGeom prst="roundRect">
            <a:avLst>
              <a:gd name="adj" fmla="val 12432"/>
            </a:avLst>
          </a:prstGeom>
          <a:solidFill>
            <a:srgbClr val="2B5F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/>
              <a:t>Challenges Faced in FY’26</a:t>
            </a:r>
            <a:endParaRPr lang="en-IN" sz="1400"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12CC70C0-0342-46C1-2C25-196D29B7318D}"/>
              </a:ext>
            </a:extLst>
          </p:cNvPr>
          <p:cNvSpPr/>
          <p:nvPr/>
        </p:nvSpPr>
        <p:spPr>
          <a:xfrm>
            <a:off x="489096" y="1509323"/>
            <a:ext cx="3281794" cy="4383477"/>
          </a:xfrm>
          <a:prstGeom prst="roundRect">
            <a:avLst>
              <a:gd name="adj" fmla="val 3517"/>
            </a:avLst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200" rtlCol="0" anchor="t"/>
          <a:lstStyle/>
          <a:p>
            <a:pPr marL="285750" lvl="1" indent="-174625" defTabSz="914379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Launch AI XDT model</a:t>
            </a:r>
          </a:p>
          <a:p>
            <a:pPr marL="285750" lvl="1" indent="-174625" defTabSz="914379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Train and certify AI resources</a:t>
            </a:r>
          </a:p>
          <a:p>
            <a:pPr marL="285750" lvl="1" indent="-174625" defTabSz="914379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Leverage AI for business development and sales support</a:t>
            </a:r>
          </a:p>
          <a:p>
            <a:pPr marL="285750" lvl="1" indent="-174625" defTabSz="914379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Focus on existing accounts for additional services</a:t>
            </a:r>
          </a:p>
          <a:p>
            <a:pPr marL="285750" lvl="1" indent="-174625" defTabSz="914379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Increase RFP win ratio</a:t>
            </a:r>
          </a:p>
          <a:p>
            <a:pPr marL="285750" lvl="1" indent="-174625" defTabSz="914379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Adding additional services and offerings</a:t>
            </a:r>
          </a:p>
          <a:p>
            <a:pPr marL="285750" lvl="1" indent="-174625" defTabSz="914379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Drive business growth by promoting webinars and innovation showcases</a:t>
            </a:r>
          </a:p>
        </p:txBody>
      </p:sp>
      <p:sp>
        <p:nvSpPr>
          <p:cNvPr id="13" name="Rounded Rectangle 1">
            <a:extLst>
              <a:ext uri="{FF2B5EF4-FFF2-40B4-BE49-F238E27FC236}">
                <a16:creationId xmlns:a16="http://schemas.microsoft.com/office/drawing/2014/main" id="{DD378B90-7578-1451-5BB8-1E20E6C6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84321" y="1224843"/>
            <a:ext cx="3491345" cy="600075"/>
          </a:xfrm>
          <a:prstGeom prst="roundRect">
            <a:avLst>
              <a:gd name="adj" fmla="val 12432"/>
            </a:avLst>
          </a:prstGeom>
          <a:solidFill>
            <a:srgbClr val="2B5F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/>
              <a:t>FY’27 Strategy to Achieve Budget</a:t>
            </a: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C0635F3A-9998-D8AE-F4CB-8052880B4F6A}"/>
              </a:ext>
            </a:extLst>
          </p:cNvPr>
          <p:cNvSpPr/>
          <p:nvPr/>
        </p:nvSpPr>
        <p:spPr>
          <a:xfrm>
            <a:off x="8421108" y="1509323"/>
            <a:ext cx="3281794" cy="4383477"/>
          </a:xfrm>
          <a:prstGeom prst="roundRect">
            <a:avLst>
              <a:gd name="adj" fmla="val 3517"/>
            </a:avLst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200" rtlCol="0" anchor="t"/>
          <a:lstStyle/>
          <a:p>
            <a:pPr marL="285750" lvl="1" indent="-174625" defTabSz="914379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XDT model ensures predictable monthly revenue</a:t>
            </a:r>
          </a:p>
          <a:p>
            <a:pPr marL="285750" lvl="1" indent="-174625" defTabSz="914379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Automation improves delivery efficiency and margins</a:t>
            </a:r>
          </a:p>
          <a:p>
            <a:pPr marL="285750" lvl="1" indent="-174625" defTabSz="914379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AI accelerates development and reduces turnaround time</a:t>
            </a:r>
          </a:p>
          <a:p>
            <a:pPr marL="285750" lvl="1" indent="-174625" defTabSz="914379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AR/VR/XR enables premium high-value offerings</a:t>
            </a:r>
          </a:p>
          <a:p>
            <a:pPr marL="285750" lvl="1" indent="-174625" defTabSz="914379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Reusable assets support scalable delivery</a:t>
            </a:r>
          </a:p>
          <a:p>
            <a:pPr marL="285750" lvl="1" indent="-174625" defTabSz="914379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en-US" sz="1400">
                <a:solidFill>
                  <a:prstClr val="black"/>
                </a:solidFill>
                <a:latin typeface="+mj-lt"/>
                <a:cs typeface="Segoe UI Semilight" panose="020B0402040204020203" pitchFamily="34" charset="0"/>
              </a:rPr>
              <a:t>Stronger client relationships improve upselling and cross-selling opportunities</a:t>
            </a:r>
          </a:p>
        </p:txBody>
      </p:sp>
      <p:sp>
        <p:nvSpPr>
          <p:cNvPr id="16" name="Rounded Rectangle 1">
            <a:extLst>
              <a:ext uri="{FF2B5EF4-FFF2-40B4-BE49-F238E27FC236}">
                <a16:creationId xmlns:a16="http://schemas.microsoft.com/office/drawing/2014/main" id="{1EBBE9C4-7170-D57B-56C3-C3E98C1B6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316333" y="1224843"/>
            <a:ext cx="3491345" cy="600075"/>
          </a:xfrm>
          <a:prstGeom prst="roundRect">
            <a:avLst>
              <a:gd name="adj" fmla="val 12432"/>
            </a:avLst>
          </a:prstGeom>
          <a:solidFill>
            <a:srgbClr val="2B5F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/>
              <a:t>FY’26 - How FY’26 Initiatives Support FY’27 Growth</a:t>
            </a:r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532832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2F262-F8B5-F03D-1C20-9A83F8C0E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F5BB10-F72C-7A15-5BAB-D04955841E80}"/>
              </a:ext>
            </a:extLst>
          </p:cNvPr>
          <p:cNvSpPr/>
          <p:nvPr/>
        </p:nvSpPr>
        <p:spPr>
          <a:xfrm>
            <a:off x="3962400" y="1506881"/>
            <a:ext cx="8006443" cy="4559304"/>
          </a:xfrm>
          <a:prstGeom prst="rect">
            <a:avLst/>
          </a:prstGeom>
          <a:solidFill>
            <a:schemeClr val="accent1">
              <a:lumMod val="40000"/>
              <a:lumOff val="60000"/>
              <a:alpha val="4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/>
              </a:solidFill>
              <a:latin typeface="+mj-lt"/>
            </a:endParaRPr>
          </a:p>
        </p:txBody>
      </p:sp>
      <mc:AlternateContent xmlns:mc="http://schemas.openxmlformats.org/markup-compatibility/2006" xmlns:cx2="http://schemas.microsoft.com/office/drawing/2015/10/21/chartex">
        <mc:Choice Requires="cx2">
          <p:graphicFrame>
            <p:nvGraphicFramePr>
              <p:cNvPr id="10" name="Chart 9">
                <a:extLst>
                  <a:ext uri="{FF2B5EF4-FFF2-40B4-BE49-F238E27FC236}">
                    <a16:creationId xmlns:a16="http://schemas.microsoft.com/office/drawing/2014/main" id="{C3754EE4-45CD-B834-A2F9-D039B51A089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570531402"/>
                  </p:ext>
                </p:extLst>
              </p:nvPr>
            </p:nvGraphicFramePr>
            <p:xfrm>
              <a:off x="3962400" y="1506881"/>
              <a:ext cx="7802879" cy="455930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10" name="Chart 9">
                <a:extLst>
                  <a:ext uri="{FF2B5EF4-FFF2-40B4-BE49-F238E27FC236}">
                    <a16:creationId xmlns:a16="http://schemas.microsoft.com/office/drawing/2014/main" id="{C3754EE4-45CD-B834-A2F9-D039B51A089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62400" y="1506881"/>
                <a:ext cx="7802879" cy="4559304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D28E0F3-EE9A-AFE0-BF7C-C091E984A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083008"/>
              </p:ext>
            </p:extLst>
          </p:nvPr>
        </p:nvGraphicFramePr>
        <p:xfrm>
          <a:off x="425702" y="1506882"/>
          <a:ext cx="3358896" cy="3867156"/>
        </p:xfrm>
        <a:graphic>
          <a:graphicData uri="http://schemas.openxmlformats.org/drawingml/2006/table">
            <a:tbl>
              <a:tblPr/>
              <a:tblGrid>
                <a:gridCol w="2098260">
                  <a:extLst>
                    <a:ext uri="{9D8B030D-6E8A-4147-A177-3AD203B41FA5}">
                      <a16:colId xmlns:a16="http://schemas.microsoft.com/office/drawing/2014/main" val="2229268494"/>
                    </a:ext>
                  </a:extLst>
                </a:gridCol>
                <a:gridCol w="1260636">
                  <a:extLst>
                    <a:ext uri="{9D8B030D-6E8A-4147-A177-3AD203B41FA5}">
                      <a16:colId xmlns:a16="http://schemas.microsoft.com/office/drawing/2014/main" val="1695655742"/>
                    </a:ext>
                  </a:extLst>
                </a:gridCol>
              </a:tblGrid>
              <a:tr h="322263">
                <a:tc grid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Top 10 Clients As per Deal value (ZOHO)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F9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624482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Client Name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Amount ($)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76813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PMI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$2,772,140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623173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Blue Cross Blue Shield NC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$2,027,240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804862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Walmart Inc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$968,868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664246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Raytheon Company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$846,358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364160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PG&amp;E Corporation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$797,865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750468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KPMG LLP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$792,255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055169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Takeda Pharmaceuticals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$613,200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524188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WORKIVA INC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$519,960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057174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AT&amp;T Inc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$515,608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195762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Honeywell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$443,885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1615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7421A9DA-B5DD-B2BB-4133-308F91781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FY’26 – YTD - Enterprise Closed – Top 10 Clients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35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10074-5820-5355-6E3B-68B39EF94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FDD937A-1625-F96B-27AA-1B679568A73E}"/>
              </a:ext>
            </a:extLst>
          </p:cNvPr>
          <p:cNvSpPr/>
          <p:nvPr/>
        </p:nvSpPr>
        <p:spPr>
          <a:xfrm>
            <a:off x="3962400" y="1506881"/>
            <a:ext cx="8006443" cy="4559304"/>
          </a:xfrm>
          <a:prstGeom prst="rect">
            <a:avLst/>
          </a:prstGeom>
          <a:solidFill>
            <a:schemeClr val="accent1">
              <a:lumMod val="40000"/>
              <a:lumOff val="60000"/>
              <a:alpha val="4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/>
              </a:solidFill>
              <a:latin typeface="+mj-l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64D5698-AA71-B11F-63B8-9B62217AC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59548"/>
              </p:ext>
            </p:extLst>
          </p:nvPr>
        </p:nvGraphicFramePr>
        <p:xfrm>
          <a:off x="143565" y="1501913"/>
          <a:ext cx="3768585" cy="3867156"/>
        </p:xfrm>
        <a:graphic>
          <a:graphicData uri="http://schemas.openxmlformats.org/drawingml/2006/table">
            <a:tbl>
              <a:tblPr/>
              <a:tblGrid>
                <a:gridCol w="2664238">
                  <a:extLst>
                    <a:ext uri="{9D8B030D-6E8A-4147-A177-3AD203B41FA5}">
                      <a16:colId xmlns:a16="http://schemas.microsoft.com/office/drawing/2014/main" val="2229268494"/>
                    </a:ext>
                  </a:extLst>
                </a:gridCol>
                <a:gridCol w="1104347">
                  <a:extLst>
                    <a:ext uri="{9D8B030D-6E8A-4147-A177-3AD203B41FA5}">
                      <a16:colId xmlns:a16="http://schemas.microsoft.com/office/drawing/2014/main" val="1695655742"/>
                    </a:ext>
                  </a:extLst>
                </a:gridCol>
              </a:tblGrid>
              <a:tr h="322263">
                <a:tc grid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Top 10 Clients As per Invoicing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F9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624482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Client Name</a:t>
                      </a:r>
                    </a:p>
                  </a:txBody>
                  <a:tcPr marT="762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Amount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76813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AT&amp;T</a:t>
                      </a:r>
                    </a:p>
                  </a:txBody>
                  <a:tcPr marT="762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$5,451,514 </a:t>
                      </a:r>
                    </a:p>
                  </a:txBody>
                  <a:tcPr marT="762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623173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PMI</a:t>
                      </a:r>
                    </a:p>
                  </a:txBody>
                  <a:tcPr marT="762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$2,099,945 </a:t>
                      </a:r>
                    </a:p>
                  </a:txBody>
                  <a:tcPr marT="762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804862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Pacific Gas &amp; Electric</a:t>
                      </a:r>
                    </a:p>
                  </a:txBody>
                  <a:tcPr marT="762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$902,731 </a:t>
                      </a:r>
                    </a:p>
                  </a:txBody>
                  <a:tcPr marT="762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664246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Blue Cross Blue Shield NC</a:t>
                      </a:r>
                    </a:p>
                  </a:txBody>
                  <a:tcPr marT="762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$781,876 </a:t>
                      </a:r>
                    </a:p>
                  </a:txBody>
                  <a:tcPr marT="762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364160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Takeda Pharmaceuticals</a:t>
                      </a:r>
                    </a:p>
                  </a:txBody>
                  <a:tcPr marT="762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$759,168 </a:t>
                      </a:r>
                    </a:p>
                  </a:txBody>
                  <a:tcPr marT="762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750468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Walmart</a:t>
                      </a:r>
                    </a:p>
                  </a:txBody>
                  <a:tcPr marT="762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$665,690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055169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Vertex Professional Services</a:t>
                      </a:r>
                    </a:p>
                  </a:txBody>
                  <a:tcPr marT="762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$660,654 </a:t>
                      </a:r>
                    </a:p>
                  </a:txBody>
                  <a:tcPr marT="762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524188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Wolters Kluwer</a:t>
                      </a:r>
                    </a:p>
                  </a:txBody>
                  <a:tcPr marT="762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$624,523 </a:t>
                      </a:r>
                    </a:p>
                  </a:txBody>
                  <a:tcPr marT="762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057174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WORKIVA INC</a:t>
                      </a:r>
                    </a:p>
                  </a:txBody>
                  <a:tcPr marT="762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$550,488 </a:t>
                      </a:r>
                    </a:p>
                  </a:txBody>
                  <a:tcPr marT="762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195762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New York Life Insurance Company</a:t>
                      </a:r>
                    </a:p>
                  </a:txBody>
                  <a:tcPr marT="762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$485,102 </a:t>
                      </a:r>
                    </a:p>
                  </a:txBody>
                  <a:tcPr marT="762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1615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EF7867EB-A9CC-A8C6-600A-657C941A0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FY’26 – YTD - Enterprise Closed – Top 10 Clients</a:t>
            </a:r>
            <a:endParaRPr lang="en-IN"/>
          </a:p>
        </p:txBody>
      </p:sp>
      <mc:AlternateContent xmlns:mc="http://schemas.openxmlformats.org/markup-compatibility/2006" xmlns:cx2="http://schemas.microsoft.com/office/drawing/2015/10/21/chartex">
        <mc:Choice Requires="cx2">
          <p:graphicFrame>
            <p:nvGraphicFramePr>
              <p:cNvPr id="2" name="Chart 1">
                <a:extLst>
                  <a:ext uri="{FF2B5EF4-FFF2-40B4-BE49-F238E27FC236}">
                    <a16:creationId xmlns:a16="http://schemas.microsoft.com/office/drawing/2014/main" id="{D6CA60A3-FC92-A051-5A3B-438546AF374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880047479"/>
                  </p:ext>
                </p:extLst>
              </p:nvPr>
            </p:nvGraphicFramePr>
            <p:xfrm>
              <a:off x="3962400" y="1506880"/>
              <a:ext cx="8006443" cy="455930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2" name="Chart 1">
                <a:extLst>
                  <a:ext uri="{FF2B5EF4-FFF2-40B4-BE49-F238E27FC236}">
                    <a16:creationId xmlns:a16="http://schemas.microsoft.com/office/drawing/2014/main" id="{D6CA60A3-FC92-A051-5A3B-438546AF374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62400" y="1506880"/>
                <a:ext cx="8006443" cy="455930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9627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h6pAFjNZ"/>
  <p:tag name="ARTICULATE_PROJECT_OPEN" val="0"/>
  <p:tag name="ARTICULATE_SLIDE_COUNT" val="29"/>
</p:tagLst>
</file>

<file path=ppt/theme/theme1.xml><?xml version="1.0" encoding="utf-8"?>
<a:theme xmlns:a="http://schemas.openxmlformats.org/drawingml/2006/main" name="Qatar Airway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00ECC60C-1E4F-4AC9-909B-4711281F7A91}" vid="{4912BA05-4752-4E22-9B2E-6660765A091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80333cd-f213-487b-8f6f-4f4f69ed892d">
      <Terms xmlns="http://schemas.microsoft.com/office/infopath/2007/PartnerControls"/>
    </lcf76f155ced4ddcb4097134ff3c332f>
    <TaxCatchAll xmlns="02ccf129-8ef8-42da-8ac5-4a371b96541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924AFC128E624CBC30D2E274F8BF48" ma:contentTypeVersion="12" ma:contentTypeDescription="Create a new document." ma:contentTypeScope="" ma:versionID="353b951fc05846bac2a94fc6f9c5e5a7">
  <xsd:schema xmlns:xsd="http://www.w3.org/2001/XMLSchema" xmlns:xs="http://www.w3.org/2001/XMLSchema" xmlns:p="http://schemas.microsoft.com/office/2006/metadata/properties" xmlns:ns2="d80333cd-f213-487b-8f6f-4f4f69ed892d" xmlns:ns3="02ccf129-8ef8-42da-8ac5-4a371b965419" targetNamespace="http://schemas.microsoft.com/office/2006/metadata/properties" ma:root="true" ma:fieldsID="fb3d2d51e8a781f15487d7e56b31f1e2" ns2:_="" ns3:_="">
    <xsd:import namespace="d80333cd-f213-487b-8f6f-4f4f69ed892d"/>
    <xsd:import namespace="02ccf129-8ef8-42da-8ac5-4a371b9654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0333cd-f213-487b-8f6f-4f4f69ed89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e508109-aa5f-4dde-b33c-a86d8a575ba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ccf129-8ef8-42da-8ac5-4a371b96541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8c89545-d5e9-4756-924c-c47420cf6041}" ma:internalName="TaxCatchAll" ma:showField="CatchAllData" ma:web="02ccf129-8ef8-42da-8ac5-4a371b9654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6A8722-2B3F-4610-B0D2-DD7905070A64}">
  <ds:schemaRefs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elements/1.1/"/>
    <ds:schemaRef ds:uri="02ccf129-8ef8-42da-8ac5-4a371b965419"/>
    <ds:schemaRef ds:uri="d80333cd-f213-487b-8f6f-4f4f69ed892d"/>
  </ds:schemaRefs>
</ds:datastoreItem>
</file>

<file path=customXml/itemProps2.xml><?xml version="1.0" encoding="utf-8"?>
<ds:datastoreItem xmlns:ds="http://schemas.openxmlformats.org/officeDocument/2006/customXml" ds:itemID="{A9365708-9FE0-435E-BAE2-30F4BCBB65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40EC5F-3A09-4281-BFBD-60AC8A04C47F}">
  <ds:schemaRefs>
    <ds:schemaRef ds:uri="02ccf129-8ef8-42da-8ac5-4a371b965419"/>
    <ds:schemaRef ds:uri="d80333cd-f213-487b-8f6f-4f4f69ed892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1077</Words>
  <Application>Microsoft Office PowerPoint</Application>
  <PresentationFormat>Widescreen</PresentationFormat>
  <Paragraphs>476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Roboto</vt:lpstr>
      <vt:lpstr>Segoe UI</vt:lpstr>
      <vt:lpstr>Tahoma</vt:lpstr>
      <vt:lpstr>Qatar Airways</vt:lpstr>
      <vt:lpstr>Theme2</vt:lpstr>
      <vt:lpstr>PowerPoint Presentation</vt:lpstr>
      <vt:lpstr>ENT Financial Overview: (FY’22 – FY’27)</vt:lpstr>
      <vt:lpstr>Confirmed Revenue Comparison</vt:lpstr>
      <vt:lpstr>ENT – Top Client Trend Analysis (FY’21–FY’26)</vt:lpstr>
      <vt:lpstr>Wins and New Clients Addition – Financial Year 2025 - 26</vt:lpstr>
      <vt:lpstr>FY’26 - Initiatives</vt:lpstr>
      <vt:lpstr>Growth Plan</vt:lpstr>
      <vt:lpstr>FY’26 – YTD - Enterprise Closed – Top 10 Clients</vt:lpstr>
      <vt:lpstr>FY’26 – YTD - Enterprise Closed – Top 10 Clients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Karthikeyan.A@aptaracorp.com</dc:creator>
  <cp:lastModifiedBy>Karthik</cp:lastModifiedBy>
  <cp:revision>2</cp:revision>
  <dcterms:created xsi:type="dcterms:W3CDTF">2025-04-21T07:31:16Z</dcterms:created>
  <dcterms:modified xsi:type="dcterms:W3CDTF">2026-04-10T09:08:03Z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0x01010075924AFC128E624CBC30D2E274F8BF48</vt:lpwstr>
  </property>
  <property fmtid="{D5CDD505-2E9C-101B-9397-08002B2CF9AE}" pid="3" name="ArticulateGUID">
    <vt:lpwstr>5CE8C5B9-2C47-4465-832B-A0A3481113DD</vt:lpwstr>
  </property>
  <property fmtid="{D5CDD505-2E9C-101B-9397-08002B2CF9AE}" pid="4" name="ArticulatePath">
    <vt:lpwstr>https://aptaracoin.sharepoint.com/sites/DesignSolutioningTeam/Shared Documents/Enterprise-level_PPT_Mike</vt:lpwstr>
  </property>
  <property fmtid="{D5CDD505-2E9C-101B-9397-08002B2CF9AE}" pid="5" name="MediaServiceImageTags">
    <vt:lpwstr/>
  </property>
</Properties>
</file>